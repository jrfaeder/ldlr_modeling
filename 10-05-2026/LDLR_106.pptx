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60" r:id="rId7"/>
    <p:sldId id="259" r:id="rId8"/>
    <p:sldId id="261" r:id="rId9"/>
    <p:sldId id="262" r:id="rId10"/>
    <p:sldId id="263" r:id="rId11"/>
    <p:sldId id="264" r:id="rId12"/>
    <p:sldId id="265" r:id="rId13"/>
    <p:sldId id="267" r:id="rId14"/>
    <p:sldId id="268" r:id="rId15"/>
    <p:sldId id="266" r:id="rId16"/>
    <p:sldId id="269" r:id="rId17"/>
    <p:sldId id="270" r:id="rId18"/>
    <p:sldId id="271" r:id="rId19"/>
    <p:sldId id="272" r:id="rId20"/>
    <p:sldId id="273" r:id="rId21"/>
    <p:sldId id="275" r:id="rId22"/>
    <p:sldId id="274" r:id="rId23"/>
    <p:sldId id="276" r:id="rId24"/>
    <p:sldId id="277" r:id="rId25"/>
  </p:sldIdLst>
  <p:sldSz cx="9144000" cy="51435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Introduce the overall project goal: using a mechanistic LDLR uptake model to move from variant phenotype toward variant-level mechanistic interpretation. </a:t>
            </a:r>
            <a:endParaRPr lang="en-GB">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g3f8701406b4_0_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f8701406b4_0_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Review the LDLR uptake cycle and show which biological steps are represented by model parameters: surface binding, endocytosis, endosomal release, recycling, and LDL degradation. Also clarify that early LDLR synthesis and ER/Golgi trafficking are not explicitly included in the current model. This gives the biological meaning of the parameters used later. </a:t>
            </a:r>
            <a:endParaRPr>
              <a:solidFill>
                <a:schemeClr val="dk1"/>
              </a:solidFill>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63" name="Shape 63"/>
        <p:cNvGrpSpPr/>
        <p:nvPr/>
      </p:nvGrpSpPr>
      <p:grpSpPr>
        <a:xfrm>
          <a:off x="0" y="0"/>
          <a:ext cx="0" cy="0"/>
          <a:chOff x="0" y="0"/>
          <a:chExt cx="0" cy="0"/>
        </a:xfrm>
      </p:grpSpPr>
      <p:sp>
        <p:nvSpPr>
          <p:cNvPr id="64" name="Google Shape;64;g3fa7164db0f_0_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fa7164db0f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Explain what A and F measure in the experimental variant dataset. Describe how the variants were separated into four phenotype clusters using A/F space and what the four clusters mean: WT-like, severe/null, abundance-defect, and function-defect. These phenotype classes will be used throughout the later model and mutation analyses. </a:t>
            </a:r>
            <a:endParaRPr lang="en-GB">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7" name="Shape 97"/>
        <p:cNvGrpSpPr/>
        <p:nvPr/>
      </p:nvGrpSpPr>
      <p:grpSpPr>
        <a:xfrm>
          <a:off x="0" y="0"/>
          <a:ext cx="0" cy="0"/>
          <a:chOff x="0" y="0"/>
          <a:chExt cx="0" cy="0"/>
        </a:xfrm>
      </p:grpSpPr>
      <p:sp>
        <p:nvSpPr>
          <p:cNvPr id="98" name="Google Shape;98;g3fa7164db0f_0_6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fa7164db0f_0_6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Explain why Latin Hypercube Sampling was used: to efficiently test many combinations of model parameters rather than changing only one at a time. Use p.Pro3Ile as an example to show that different parameter combinations generate different A/F outputs and that some sampled combinations can approach the experimental target. This establishes that the model can explore a substantial phenotype space. </a:t>
            </a:r>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78" name="Shape 78"/>
        <p:cNvGrpSpPr/>
        <p:nvPr/>
      </p:nvGrpSpPr>
      <p:grpSpPr>
        <a:xfrm>
          <a:off x="0" y="0"/>
          <a:ext cx="0" cy="0"/>
          <a:chOff x="0" y="0"/>
          <a:chExt cx="0" cy="0"/>
        </a:xfrm>
      </p:grpSpPr>
      <p:sp>
        <p:nvSpPr>
          <p:cNvPr id="79" name="Google Shape;79;g3fa7164db0f_0_2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fa7164db0f_0_2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GB">
                <a:solidFill>
                  <a:schemeClr val="dk1"/>
                </a:solidFill>
              </a:rPr>
              <a:t>Introduce the first major question: starting from the WT parameter set, can changing model parameters move the predicted phenotype toward the mutant regions observed experimentally? Explain the forward direction: parameters → BioNetGen model → predicted A/F.</a:t>
            </a:r>
            <a:endParaRPr>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GB">
                <a:solidFill>
                  <a:schemeClr val="dk1"/>
                </a:solidFill>
              </a:rPr>
              <a:t>This sets up why we first explore parameter space before trying to interpret individual variants.</a:t>
            </a:r>
            <a:endParaRPr>
              <a:solidFill>
                <a:schemeClr val="dk1"/>
              </a:solidFill>
            </a:endParaRPr>
          </a:p>
          <a:p>
            <a:pPr marL="0" lvl="0" indent="0" algn="l" rtl="0">
              <a:spcBef>
                <a:spcPts val="120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g3fa7164db0f_0_78: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a7164db0f_0_7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Discuss which model parameters have the greatest influence on A and F. Explain that sensitivity analysis is not telling us which parameter a mutation actually changes; instead, it tells us which parameters are capable of strongly affecting the phenotype. This helps prioritize parameters before attempting inverse fitting.</a:t>
            </a:r>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1" name="Shape 111"/>
        <p:cNvGrpSpPr/>
        <p:nvPr/>
      </p:nvGrpSpPr>
      <p:grpSpPr>
        <a:xfrm>
          <a:off x="0" y="0"/>
          <a:ext cx="0" cy="0"/>
          <a:chOff x="0" y="0"/>
          <a:chExt cx="0" cy="0"/>
        </a:xfrm>
      </p:grpSpPr>
      <p:sp>
        <p:nvSpPr>
          <p:cNvPr id="112" name="Google Shape;112;g3fa7164db0f_0_92: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fa7164db0f_0_9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Move from the forward problem to the inverse problem:</a:t>
            </a:r>
            <a:endParaRPr lang="en-GB"/>
          </a:p>
          <a:p>
            <a:pPr marL="0" lvl="0" indent="0" algn="l" rtl="0">
              <a:spcBef>
                <a:spcPts val="0"/>
              </a:spcBef>
              <a:spcAft>
                <a:spcPts val="0"/>
              </a:spcAft>
              <a:buClr>
                <a:schemeClr val="dk1"/>
              </a:buClr>
              <a:buSzPts val="1100"/>
              <a:buFont typeface="Arial" panose="020B0604020202020204"/>
              <a:buNone/>
            </a:pPr>
            <a:r>
              <a:rPr lang="en-GB"/>
              <a:t>observed phenotype → possible parameters.</a:t>
            </a:r>
            <a:endParaRPr lang="en-GB"/>
          </a:p>
          <a:p>
            <a:pPr marL="0" lvl="0" indent="0" algn="l" rtl="0">
              <a:spcBef>
                <a:spcPts val="0"/>
              </a:spcBef>
              <a:spcAft>
                <a:spcPts val="0"/>
              </a:spcAft>
              <a:buClr>
                <a:schemeClr val="dk1"/>
              </a:buClr>
              <a:buSzPts val="1100"/>
              <a:buFont typeface="Arial" panose="020B0604020202020204"/>
              <a:buNone/>
            </a:pPr>
            <a:r>
              <a:rPr lang="en-GB"/>
              <a:t>Show that a target such as p.Leu8Gln can be fitted, but other phenotypes, particularly very low abundance with high function, may fall outside the model's reachable space. The key conclusion is that fitting alone is not enough: even when a phenotype is reachable, A/F by itself does not necessarily tell us the true molecular mechanism.</a:t>
            </a:r>
            <a:endParaRPr lang="en-GB"/>
          </a:p>
          <a:p>
            <a:pPr marL="0" lvl="0" indent="0" algn="l" rtl="0">
              <a:spcBef>
                <a:spcPts val="0"/>
              </a:spcBef>
              <a:spcAft>
                <a:spcPts val="0"/>
              </a:spcAft>
              <a:buNone/>
            </a:pPr>
            <a:r>
              <a:rPr lang="en-GB"/>
              <a:t>Connection to Part 2: because phenotype alone is insufficient, we need additional biological information from the variants.</a:t>
            </a:r>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18"/>
        <p:cNvGrpSpPr/>
        <p:nvPr/>
      </p:nvGrpSpPr>
      <p:grpSpPr>
        <a:xfrm>
          <a:off x="0" y="0"/>
          <a:ext cx="0" cy="0"/>
          <a:chOff x="0" y="0"/>
          <a:chExt cx="0" cy="0"/>
        </a:xfrm>
      </p:grpSpPr>
      <p:sp>
        <p:nvSpPr>
          <p:cNvPr id="119" name="Google Shape;119;g3fa7164db0f_0_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fa7164db0f_0_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Introduce the new strategy: combine the observed A/F phenotype with mutation chemistry and protein domain/location. The purpose is to use experimental variant information to narrow the possible biological mechanisms and therefore narrow the model parameter subset. This page is the conceptual bridge between model exploration and biological interpretation.</a:t>
            </a:r>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3fa7164db0f_0_11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fa7164db0f_0_1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GB">
                <a:solidFill>
                  <a:schemeClr val="dk1"/>
                </a:solidFill>
              </a:rPr>
              <a:t>Explain how variants were classified into eight mutation categories such as conservative, charge reversal, Cys change, Gly change, etc. Compare the phenotype-cluster distributions across mutation types. The main result is that mutation type shows some trends, but each mutation category still produces multiple phenotype classes.Mutation chemistry contains useful information, but it is not enough by itself, so we next ask whether location in LDLR matters.</a:t>
            </a:r>
            <a:endParaRPr>
              <a:solidFill>
                <a:schemeClr val="dk1"/>
              </a:solidFill>
            </a:endParaRPr>
          </a:p>
          <a:p>
            <a:pPr marL="0" lvl="0" indent="0" algn="l" rtl="0">
              <a:spcBef>
                <a:spcPts val="120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33"/>
        <p:cNvGrpSpPr/>
        <p:nvPr/>
      </p:nvGrpSpPr>
      <p:grpSpPr>
        <a:xfrm>
          <a:off x="0" y="0"/>
          <a:ext cx="0" cy="0"/>
          <a:chOff x="0" y="0"/>
          <a:chExt cx="0" cy="0"/>
        </a:xfrm>
      </p:grpSpPr>
      <p:sp>
        <p:nvSpPr>
          <p:cNvPr id="134" name="Google Shape;134;g3fa7164db0f_0_1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fa7164db0f_0_1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t>Compare phenotype distributions across LDLR regions. Highlight the strong pattern in LA3–LA5, where there is a larger fraction of function-defect variants compared with many other regions. The main conclusion is that the effect of a mutation depends strongly on where the residue is located, so domain information adds information that mutation type alone misses.</a:t>
            </a:r>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g3fa7164db0f_0_19: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fa7164db0f_0_1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Explain why Part 3 temporarily skips the mechanistic layer and predicts phenotype directly from variant features. Before building the full features → θ → mechanistic model → phenotype pipeline, we first test whether the features contain enough information to predict the phenotype components.</a:t>
            </a:r>
            <a:endParaRPr lang="en-GB"/>
          </a:p>
          <a:p>
            <a:pPr marL="0" lvl="0" indent="0" algn="l" rtl="0">
              <a:spcBef>
                <a:spcPts val="0"/>
              </a:spcBef>
              <a:spcAft>
                <a:spcPts val="0"/>
              </a:spcAft>
              <a:buClr>
                <a:schemeClr val="dk1"/>
              </a:buClr>
              <a:buSzPts val="1100"/>
              <a:buFont typeface="Arial" panose="020B0604020202020204"/>
              <a:buNone/>
            </a:pPr>
            <a:r>
              <a:rPr lang="en-GB"/>
              <a:t>Introduce the two targets:</a:t>
            </a:r>
            <a:endParaRPr lang="en-GB"/>
          </a:p>
          <a:p>
            <a:pPr marL="0" lvl="0" indent="0" algn="l" rtl="0">
              <a:spcBef>
                <a:spcPts val="0"/>
              </a:spcBef>
              <a:spcAft>
                <a:spcPts val="0"/>
              </a:spcAft>
              <a:buClr>
                <a:schemeClr val="dk1"/>
              </a:buClr>
              <a:buSzPts val="1100"/>
              <a:buFont typeface="Arial" panose="020B0604020202020204"/>
              <a:buNone/>
            </a:pPr>
            <a:r>
              <a:rPr lang="en-GB"/>
              <a:t>S = A: surface abundance.</a:t>
            </a:r>
            <a:endParaRPr lang="en-GB"/>
          </a:p>
          <a:p>
            <a:pPr marL="0" lvl="0" indent="0" algn="l" rtl="0">
              <a:spcBef>
                <a:spcPts val="0"/>
              </a:spcBef>
              <a:spcAft>
                <a:spcPts val="0"/>
              </a:spcAft>
              <a:buClr>
                <a:schemeClr val="dk1"/>
              </a:buClr>
              <a:buSzPts val="1100"/>
              <a:buFont typeface="Arial" panose="020B0604020202020204"/>
              <a:buNone/>
            </a:pPr>
            <a:r>
              <a:rPr lang="en-GB"/>
              <a:t>B = F − LOESS(F | A): the component of function not explained by abundance.</a:t>
            </a:r>
            <a:endParaRPr lang="en-GB"/>
          </a:p>
          <a:p>
            <a:pPr marL="0" lvl="0" indent="0" algn="l" rtl="0">
              <a:spcBef>
                <a:spcPts val="0"/>
              </a:spcBef>
              <a:spcAft>
                <a:spcPts val="0"/>
              </a:spcAft>
              <a:buClr>
                <a:schemeClr val="dk1"/>
              </a:buClr>
              <a:buSzPts val="1100"/>
              <a:buFont typeface="Arial" panose="020B0604020202020204"/>
              <a:buNone/>
            </a:pPr>
            <a:r>
              <a:rPr lang="en-GB"/>
              <a:t>The purpose of B is to separate function-related variation from the effect of simply having more or less receptor at the surface.</a:t>
            </a:r>
            <a:endParaRPr lang="en-GB"/>
          </a:p>
          <a:p>
            <a:pPr marL="0" lvl="0" indent="0" algn="l" rtl="0">
              <a:spcBef>
                <a:spcPts val="0"/>
              </a:spcBef>
              <a:spcAft>
                <a:spcPts val="0"/>
              </a:spcAft>
              <a:buClr>
                <a:schemeClr val="dk1"/>
              </a:buClr>
              <a:buSzPts val="1100"/>
              <a:buFont typeface="Arial" panose="020B0604020202020204"/>
              <a:buNone/>
            </a:pPr>
            <a:r>
              <a:rPr lang="en-GB"/>
              <a:t>N</a:t>
            </a:r>
            <a:r>
              <a:rPr lang="en-GB"/>
              <a:t>ow that B and S are defined as the prediction targets, the next question is what information about each variant we use to predict them — the 26-feature vector.</a:t>
            </a:r>
            <a:endParaRPr lang="en-GB"/>
          </a:p>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g3fa78a620f2_0_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fa78a620f2_0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This page will explain what information we use to describe each LDLR variant before prediction.</a:t>
            </a:r>
            <a:endParaRPr lang="en-GB"/>
          </a:p>
          <a:p>
            <a:pPr marL="0" lvl="0" indent="0" algn="l" rtl="0">
              <a:spcBef>
                <a:spcPts val="0"/>
              </a:spcBef>
              <a:spcAft>
                <a:spcPts val="0"/>
              </a:spcAft>
              <a:buClr>
                <a:schemeClr val="dk1"/>
              </a:buClr>
              <a:buSzPts val="1100"/>
              <a:buFont typeface="Arial" panose="020B0604020202020204"/>
              <a:buNone/>
            </a:pPr>
            <a:r>
              <a:rPr lang="en-GB"/>
              <a:t>The 26 features are grouped into three types:</a:t>
            </a:r>
            <a:endParaRPr lang="en-GB"/>
          </a:p>
          <a:p>
            <a:pPr marL="0" lvl="0" indent="0" algn="l" rtl="0">
              <a:spcBef>
                <a:spcPts val="0"/>
              </a:spcBef>
              <a:spcAft>
                <a:spcPts val="0"/>
              </a:spcAft>
              <a:buClr>
                <a:schemeClr val="dk1"/>
              </a:buClr>
              <a:buSzPts val="1100"/>
              <a:buFont typeface="Arial" panose="020B0604020202020204"/>
              <a:buNone/>
            </a:pPr>
            <a:r>
              <a:rPr lang="en-GB"/>
              <a:t>Substitution properties — what biochemical change occurred, such as BLOSUM62, hydrophobicity, volume, polarity, charge, and Cys/Pro/Gly changes.</a:t>
            </a:r>
            <a:endParaRPr lang="en-GB"/>
          </a:p>
          <a:p>
            <a:pPr marL="0" lvl="0" indent="0" algn="l" rtl="0">
              <a:spcBef>
                <a:spcPts val="0"/>
              </a:spcBef>
              <a:spcAft>
                <a:spcPts val="0"/>
              </a:spcAft>
              <a:buClr>
                <a:schemeClr val="dk1"/>
              </a:buClr>
              <a:buSzPts val="1100"/>
              <a:buFont typeface="Arial" panose="020B0604020202020204"/>
              <a:buNone/>
            </a:pPr>
            <a:r>
              <a:rPr lang="en-GB"/>
              <a:t>Domain identity — where the mutation occurs in LDLR.</a:t>
            </a:r>
            <a:endParaRPr lang="en-GB"/>
          </a:p>
          <a:p>
            <a:pPr marL="0" lvl="0" indent="0" algn="l" rtl="0">
              <a:spcBef>
                <a:spcPts val="0"/>
              </a:spcBef>
              <a:spcAft>
                <a:spcPts val="0"/>
              </a:spcAft>
              <a:buClr>
                <a:schemeClr val="dk1"/>
              </a:buClr>
              <a:buSzPts val="1100"/>
              <a:buFont typeface="Arial" panose="020B0604020202020204"/>
              <a:buNone/>
            </a:pPr>
            <a:r>
              <a:rPr lang="en-GB"/>
              <a:t>Structural features — distance to ApoB100 (from 9BDE) and secondary structure (from 9BDE, and from 1N7D where 9BDE does not resolve the residue). MutateX ΔΔG is part of the design, but per-variant values were not published</a:t>
            </a:r>
            <a:r>
              <a:rPr lang="en-US" altLang="en-GB"/>
              <a:t> available yet.</a:t>
            </a:r>
            <a:endParaRPr lang="en-GB"/>
          </a:p>
          <a:p>
            <a:pPr marL="0" lvl="0" indent="0" algn="l" rtl="0">
              <a:spcBef>
                <a:spcPts val="0"/>
              </a:spcBef>
              <a:spcAft>
                <a:spcPts val="0"/>
              </a:spcAft>
              <a:buClr>
                <a:schemeClr val="dk1"/>
              </a:buClr>
              <a:buSzPts val="1100"/>
              <a:buFont typeface="Arial" panose="020B0604020202020204"/>
              <a:buNone/>
            </a:pPr>
            <a:r>
              <a:rPr lang="en-GB"/>
              <a:t>This is the quantitative extension of Part 2: instead of only using broad mutation classes and domains, we now encode each variant with a richer feature vector.</a:t>
            </a:r>
            <a:endParaRPr lang="en-GB"/>
          </a:p>
          <a:p>
            <a:pPr marL="0" lvl="0" indent="0" algn="l" rtl="0">
              <a:spcBef>
                <a:spcPts val="0"/>
              </a:spcBef>
              <a:spcAft>
                <a:spcPts val="0"/>
              </a:spcAft>
              <a:buClr>
                <a:schemeClr val="dk1"/>
              </a:buClr>
              <a:buSzPts val="1100"/>
              <a:buFont typeface="Arial" panose="020B0604020202020204"/>
              <a:buNone/>
            </a:pPr>
            <a:r>
              <a:rPr lang="en-GB"/>
              <a:t>Also mention that the substitution and domain features have full coverage, while the structural features are only partially available, which will become an important limitation later.</a:t>
            </a:r>
            <a:endParaRPr lang="en-GB"/>
          </a:p>
          <a:p>
            <a:pPr marL="0" lvl="0" indent="0" algn="l" rtl="0">
              <a:spcBef>
                <a:spcPts val="0"/>
              </a:spcBef>
              <a:spcAft>
                <a:spcPts val="0"/>
              </a:spcAft>
              <a:buNone/>
            </a:pPr>
            <a:r>
              <a:rPr lang="en-GB"/>
              <a:t>Once every variant is represented by these 26 features, the next question is whether they are actually predictive of B and S</a:t>
            </a:r>
            <a:endParaRPr lang="en-GB"/>
          </a:p>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g3fa7164db0f_0_13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fa7164db0f_0_1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GB">
                <a:solidFill>
                  <a:schemeClr val="dk1"/>
                </a:solidFill>
              </a:rPr>
              <a:t>Bring Part 1 and Part 2 together. Explain that combining phenotype, mutation pattern, and domain knowledge can suggest different mechanistic interpretations that map onto different model parameters—for example binding-related effects, endocytosis-related effects, and endosomal-release effects. The important takeaway is:variants with similar A/F phenotypes can still arise from different mechanisms.</a:t>
            </a:r>
            <a:endParaRPr>
              <a:solidFill>
                <a:schemeClr val="dk1"/>
              </a:solidFill>
            </a:endParaRPr>
          </a:p>
          <a:p>
            <a:pPr marL="0" lvl="0" indent="0" algn="l" rtl="0">
              <a:spcBef>
                <a:spcPts val="120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g3fa78a620f2_0_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fa78a620f2_0_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This page tests whether the 26 variant features contain enough information to predict the two phenotype components across the whole protein.</a:t>
            </a:r>
            <a:endParaRPr lang="en-GB"/>
          </a:p>
          <a:p>
            <a:pPr marL="0" lvl="0" indent="0" algn="l" rtl="0">
              <a:spcBef>
                <a:spcPts val="0"/>
              </a:spcBef>
              <a:spcAft>
                <a:spcPts val="0"/>
              </a:spcAft>
              <a:buClr>
                <a:schemeClr val="dk1"/>
              </a:buClr>
              <a:buSzPts val="1100"/>
              <a:buFont typeface="Arial" panose="020B0604020202020204"/>
              <a:buNone/>
            </a:pPr>
            <a:r>
              <a:rPr lang="en-GB"/>
              <a:t>The calculation is simple conceptually:</a:t>
            </a:r>
            <a:endParaRPr lang="en-GB"/>
          </a:p>
          <a:p>
            <a:pPr marL="0" lvl="0" indent="0" algn="l" rtl="0">
              <a:spcBef>
                <a:spcPts val="0"/>
              </a:spcBef>
              <a:spcAft>
                <a:spcPts val="0"/>
              </a:spcAft>
              <a:buClr>
                <a:schemeClr val="dk1"/>
              </a:buClr>
              <a:buSzPts val="1100"/>
              <a:buFont typeface="Arial" panose="020B0604020202020204"/>
              <a:buNone/>
            </a:pPr>
            <a:r>
              <a:rPr lang="en-GB"/>
              <a:t>26 features → ridge regression → 5-fold cross-validation → Pearson </a:t>
            </a:r>
            <a:endParaRPr lang="en-GB"/>
          </a:p>
          <a:p>
            <a:pPr marL="0" lvl="0" indent="0" algn="l" rtl="0">
              <a:spcBef>
                <a:spcPts val="0"/>
              </a:spcBef>
              <a:spcAft>
                <a:spcPts val="0"/>
              </a:spcAft>
              <a:buClr>
                <a:schemeClr val="dk1"/>
              </a:buClr>
              <a:buSzPts val="1100"/>
              <a:buFont typeface="Arial" panose="020B0604020202020204"/>
              <a:buNone/>
            </a:pPr>
            <a:r>
              <a:rPr lang="en-GB"/>
              <a:t>For each target, B or S, we fit a ridge regression using the standardized feature vector. With 5-fold cross-validation, each variant is predicted by a model that was trained without that variant. We then calculate Pearson correlation between the predicted and observed values. The same procedure is used for B and S; only the target changes.</a:t>
            </a:r>
            <a:endParaRPr lang="en-GB"/>
          </a:p>
          <a:p>
            <a:pPr marL="0" lvl="0" indent="0" algn="l" rtl="0">
              <a:spcBef>
                <a:spcPts val="0"/>
              </a:spcBef>
              <a:spcAft>
                <a:spcPts val="0"/>
              </a:spcAft>
              <a:buClr>
                <a:schemeClr val="dk1"/>
              </a:buClr>
              <a:buSzPts val="1100"/>
              <a:buFont typeface="Arial" panose="020B0604020202020204"/>
              <a:buNone/>
            </a:pPr>
            <a:r>
              <a:rPr lang="en-GB"/>
              <a:t>We tested two versions of the model:</a:t>
            </a:r>
            <a:endParaRPr lang="en-GB"/>
          </a:p>
          <a:p>
            <a:pPr marL="0" lvl="0" indent="0" algn="l" rtl="0">
              <a:spcBef>
                <a:spcPts val="0"/>
              </a:spcBef>
              <a:spcAft>
                <a:spcPts val="0"/>
              </a:spcAft>
              <a:buClr>
                <a:schemeClr val="dk1"/>
              </a:buClr>
              <a:buSzPts val="1100"/>
              <a:buFont typeface="Arial" panose="020B0604020202020204"/>
              <a:buNone/>
            </a:pPr>
            <a:r>
              <a:rPr lang="en-GB"/>
              <a:t>Flat model: the 26 features are used directly, with domain represented as a one-hot feature. This effectively assumes that a feature has the same general effect across LDLR regions.</a:t>
            </a:r>
            <a:endParaRPr lang="en-GB"/>
          </a:p>
          <a:p>
            <a:pPr marL="0" lvl="0" indent="0" algn="l" rtl="0">
              <a:spcBef>
                <a:spcPts val="0"/>
              </a:spcBef>
              <a:spcAft>
                <a:spcPts val="0"/>
              </a:spcAft>
              <a:buClr>
                <a:schemeClr val="dk1"/>
              </a:buClr>
              <a:buSzPts val="1100"/>
              <a:buFont typeface="Arial" panose="020B0604020202020204"/>
              <a:buNone/>
            </a:pPr>
            <a:r>
              <a:rPr lang="en-GB"/>
              <a:t>+ interactions: we add domain × feature interaction terms, allowing the effect of a feature to differ depending on the domain. For example, ΔΔG can have a different relationship with phenotype in LA4 than in another domain.</a:t>
            </a:r>
            <a:endParaRPr lang="en-GB"/>
          </a:p>
          <a:p>
            <a:pPr marL="0" lvl="0" indent="0" algn="l" rtl="0">
              <a:spcBef>
                <a:spcPts val="0"/>
              </a:spcBef>
              <a:spcAft>
                <a:spcPts val="0"/>
              </a:spcAft>
              <a:buClr>
                <a:schemeClr val="dk1"/>
              </a:buClr>
              <a:buSzPts val="1100"/>
              <a:buFont typeface="Arial" panose="020B0604020202020204"/>
              <a:buNone/>
            </a:pPr>
            <a:r>
              <a:rPr lang="en-GB"/>
              <a:t>Adding these domain-specific interactions improved the global results:</a:t>
            </a:r>
            <a:endParaRPr lang="en-GB"/>
          </a:p>
          <a:p>
            <a:pPr marL="0" lvl="0" indent="0" algn="l" rtl="0">
              <a:spcBef>
                <a:spcPts val="0"/>
              </a:spcBef>
              <a:spcAft>
                <a:spcPts val="0"/>
              </a:spcAft>
              <a:buClr>
                <a:schemeClr val="dk1"/>
              </a:buClr>
              <a:buSzPts val="1100"/>
              <a:buFont typeface="Arial" panose="020B0604020202020204"/>
              <a:buNone/>
            </a:pPr>
            <a:r>
              <a:rPr lang="en-GB"/>
              <a:t>So the main conclusion is that the 26 features contain real but moderate predictive signal, and allowing feature effects to depend on protein region improves prediction.</a:t>
            </a:r>
            <a:endParaRPr lang="en-GB"/>
          </a:p>
          <a:p>
            <a:pPr marL="0" lvl="0" indent="0" algn="l" rtl="0">
              <a:spcBef>
                <a:spcPts val="0"/>
              </a:spcBef>
              <a:spcAft>
                <a:spcPts val="0"/>
              </a:spcAft>
              <a:buNone/>
            </a:pPr>
            <a:r>
              <a:rPr lang="en-GB"/>
              <a:t>These are whole-protein averages. A global r cannot tell us whether prediction is equally moderate everywhere or very good in some domains and poor in others. So next we examine the model locally by protein region.</a:t>
            </a:r>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g3fa78a620f2_0_2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fa78a620f2_0_2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This page asks whether the global performance from the previous slide is uniform across LDLR, or whether it changes by region.</a:t>
            </a:r>
            <a:endParaRPr lang="en-GB"/>
          </a:p>
          <a:p>
            <a:pPr marL="0" lvl="0" indent="0" algn="l" rtl="0">
              <a:spcBef>
                <a:spcPts val="0"/>
              </a:spcBef>
              <a:spcAft>
                <a:spcPts val="0"/>
              </a:spcAft>
              <a:buClr>
                <a:schemeClr val="dk1"/>
              </a:buClr>
              <a:buSzPts val="1100"/>
              <a:buFont typeface="Arial" panose="020B0604020202020204"/>
              <a:buNone/>
            </a:pPr>
            <a:r>
              <a:rPr lang="en-GB"/>
              <a:t>The calculation is the same as before: we use the same out-of-fold predictions from the ridge model, but instead of computing one Pearson r across all 14,617 variants, we compute r within each domain separately.</a:t>
            </a:r>
            <a:endParaRPr lang="en-GB"/>
          </a:p>
          <a:p>
            <a:pPr marL="0" lvl="0" indent="0" algn="l" rtl="0">
              <a:spcBef>
                <a:spcPts val="0"/>
              </a:spcBef>
              <a:spcAft>
                <a:spcPts val="0"/>
              </a:spcAft>
              <a:buClr>
                <a:schemeClr val="dk1"/>
              </a:buClr>
              <a:buSzPts val="1100"/>
              <a:buFont typeface="Arial" panose="020B0604020202020204"/>
              <a:buNone/>
            </a:pPr>
            <a:r>
              <a:rPr lang="en-GB"/>
              <a:t>For B, the strongest local prediction is concentrated in:</a:t>
            </a:r>
            <a:endParaRPr lang="en-GB"/>
          </a:p>
          <a:p>
            <a:pPr marL="0" lvl="0" indent="0" algn="l" rtl="0">
              <a:spcBef>
                <a:spcPts val="0"/>
              </a:spcBef>
              <a:spcAft>
                <a:spcPts val="0"/>
              </a:spcAft>
              <a:buClr>
                <a:schemeClr val="dk1"/>
              </a:buClr>
              <a:buSzPts val="1100"/>
              <a:buFont typeface="Arial" panose="020B0604020202020204"/>
              <a:buNone/>
            </a:pPr>
            <a:r>
              <a:rPr lang="en-GB"/>
              <a:t>LA3, LA4, LA5</a:t>
            </a:r>
            <a:endParaRPr lang="en-GB"/>
          </a:p>
          <a:p>
            <a:pPr marL="0" lvl="0" indent="0" algn="l" rtl="0">
              <a:spcBef>
                <a:spcPts val="0"/>
              </a:spcBef>
              <a:spcAft>
                <a:spcPts val="0"/>
              </a:spcAft>
              <a:buClr>
                <a:schemeClr val="dk1"/>
              </a:buClr>
              <a:buSzPts val="1100"/>
              <a:buFont typeface="Arial" panose="020B0604020202020204"/>
              <a:buNone/>
            </a:pPr>
            <a:r>
              <a:rPr lang="en-GB"/>
              <a:t>For S, a very different set of regions performs best:</a:t>
            </a:r>
            <a:endParaRPr lang="en-GB"/>
          </a:p>
          <a:p>
            <a:pPr marL="0" lvl="0" indent="0" algn="l" rtl="0">
              <a:spcBef>
                <a:spcPts val="0"/>
              </a:spcBef>
              <a:spcAft>
                <a:spcPts val="0"/>
              </a:spcAft>
              <a:buClr>
                <a:schemeClr val="dk1"/>
              </a:buClr>
              <a:buSzPts val="1100"/>
              <a:buFont typeface="Arial" panose="020B0604020202020204"/>
              <a:buNone/>
            </a:pPr>
            <a:r>
              <a:rPr lang="en-GB"/>
              <a:t>LA7, EGF-A, signal peptide, EGF-C</a:t>
            </a:r>
            <a:endParaRPr lang="en-GB"/>
          </a:p>
          <a:p>
            <a:pPr marL="0" lvl="0" indent="0" algn="l" rtl="0">
              <a:spcBef>
                <a:spcPts val="0"/>
              </a:spcBef>
              <a:spcAft>
                <a:spcPts val="0"/>
              </a:spcAft>
              <a:buClr>
                <a:schemeClr val="dk1"/>
              </a:buClr>
              <a:buSzPts val="1100"/>
              <a:buFont typeface="Arial" panose="020B0604020202020204"/>
              <a:buNone/>
            </a:pPr>
            <a:r>
              <a:rPr lang="en-GB"/>
              <a:t>So the main result is that the global is hiding very different local patterns. The regions where B is predictable are not the same regions where abundance is predictable.</a:t>
            </a:r>
            <a:endParaRPr lang="en-GB"/>
          </a:p>
          <a:p>
            <a:pPr marL="0" lvl="0" indent="0" algn="l" rtl="0">
              <a:spcBef>
                <a:spcPts val="0"/>
              </a:spcBef>
              <a:spcAft>
                <a:spcPts val="0"/>
              </a:spcAft>
              <a:buClr>
                <a:schemeClr val="dk1"/>
              </a:buClr>
              <a:buSzPts val="1100"/>
              <a:buFont typeface="Arial" panose="020B0604020202020204"/>
              <a:buNone/>
            </a:pPr>
            <a:r>
              <a:rPr lang="en-GB"/>
              <a:t>This is also consistent with Part 2: LA3–LA5 were already highlighted as function-related regions, and here they are again the strongest regions for predicting B.</a:t>
            </a:r>
            <a:endParaRPr lang="en-GB"/>
          </a:p>
          <a:p>
            <a:pPr marL="0" lvl="0" indent="0" algn="l" rtl="0">
              <a:spcBef>
                <a:spcPts val="0"/>
              </a:spcBef>
              <a:spcAft>
                <a:spcPts val="0"/>
              </a:spcAft>
              <a:buNone/>
            </a:pPr>
            <a:r>
              <a:rPr lang="en-GB"/>
              <a:t>Low local r does not always mean the model is simply bad in that domain. Next we ask why predictability differs across regions.</a:t>
            </a:r>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1" name="Shape 181"/>
        <p:cNvGrpSpPr/>
        <p:nvPr/>
      </p:nvGrpSpPr>
      <p:grpSpPr>
        <a:xfrm>
          <a:off x="0" y="0"/>
          <a:ext cx="0" cy="0"/>
          <a:chOff x="0" y="0"/>
          <a:chExt cx="0" cy="0"/>
        </a:xfrm>
      </p:grpSpPr>
      <p:sp>
        <p:nvSpPr>
          <p:cNvPr id="182" name="Google Shape;182;g3fa78a620f2_0_3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fa78a620f2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This page explains why some domains have high local r and others have low local r.</a:t>
            </a:r>
            <a:endParaRPr lang="en-GB"/>
          </a:p>
          <a:p>
            <a:pPr marL="0" lvl="0" indent="0" algn="l" rtl="0">
              <a:spcBef>
                <a:spcPts val="0"/>
              </a:spcBef>
              <a:spcAft>
                <a:spcPts val="0"/>
              </a:spcAft>
              <a:buClr>
                <a:schemeClr val="dk1"/>
              </a:buClr>
              <a:buSzPts val="1100"/>
              <a:buFont typeface="Arial" panose="020B0604020202020204"/>
              <a:buNone/>
            </a:pPr>
            <a:r>
              <a:rPr lang="en-GB"/>
              <a:t>For each LDLR domain, I compare two things:</a:t>
            </a:r>
            <a:endParaRPr lang="en-GB"/>
          </a:p>
          <a:p>
            <a:pPr marL="0" lvl="0" indent="0" algn="l" rtl="0">
              <a:spcBef>
                <a:spcPts val="0"/>
              </a:spcBef>
              <a:spcAft>
                <a:spcPts val="0"/>
              </a:spcAft>
              <a:buClr>
                <a:schemeClr val="dk1"/>
              </a:buClr>
              <a:buSzPts val="1100"/>
              <a:buFont typeface="Arial" panose="020B0604020202020204"/>
              <a:buNone/>
            </a:pPr>
            <a:r>
              <a:rPr lang="en-GB"/>
              <a:t>the within-domain standard deviation of the true score — how much real phenotype variation exists in that domain;</a:t>
            </a:r>
            <a:endParaRPr lang="en-GB"/>
          </a:p>
          <a:p>
            <a:pPr marL="0" lvl="0" indent="0" algn="l" rtl="0">
              <a:spcBef>
                <a:spcPts val="0"/>
              </a:spcBef>
              <a:spcAft>
                <a:spcPts val="0"/>
              </a:spcAft>
              <a:buClr>
                <a:schemeClr val="dk1"/>
              </a:buClr>
              <a:buSzPts val="1100"/>
              <a:buFont typeface="Arial" panose="020B0604020202020204"/>
              <a:buNone/>
            </a:pPr>
            <a:r>
              <a:rPr lang="en-GB"/>
              <a:t>the local prediction r— how well the model predicts variants within that same domain.</a:t>
            </a:r>
            <a:endParaRPr lang="en-GB"/>
          </a:p>
          <a:p>
            <a:pPr marL="0" lvl="0" indent="0" algn="l" rtl="0">
              <a:spcBef>
                <a:spcPts val="0"/>
              </a:spcBef>
              <a:spcAft>
                <a:spcPts val="0"/>
              </a:spcAft>
              <a:buClr>
                <a:schemeClr val="dk1"/>
              </a:buClr>
              <a:buSzPts val="1100"/>
              <a:buFont typeface="Arial" panose="020B0604020202020204"/>
              <a:buNone/>
            </a:pPr>
            <a:r>
              <a:rPr lang="en-GB"/>
              <a:t>Across the 17 domains, these are strongly correlated.</a:t>
            </a:r>
            <a:endParaRPr lang="en-GB"/>
          </a:p>
          <a:p>
            <a:pPr marL="0" lvl="0" indent="0" algn="l" rtl="0">
              <a:spcBef>
                <a:spcPts val="0"/>
              </a:spcBef>
              <a:spcAft>
                <a:spcPts val="0"/>
              </a:spcAft>
              <a:buClr>
                <a:schemeClr val="dk1"/>
              </a:buClr>
              <a:buSzPts val="1100"/>
              <a:buFont typeface="Arial" panose="020B0604020202020204"/>
              <a:buNone/>
            </a:pPr>
            <a:r>
              <a:rPr lang="en-US" altLang="zh-CN"/>
              <a:t>The dashed line is a linear fit across the 17 domains. It shows the predictability we'd expect from a domain's variance alone. Domains above it do better than expected, domains below it do worse, and the β-propeller sits below the line in both panels.</a:t>
            </a:r>
            <a:endParaRPr lang="en-US" altLang="zh-CN"/>
          </a:p>
          <a:p>
            <a:pPr marL="0" lvl="0" indent="0" algn="l" rtl="0">
              <a:spcBef>
                <a:spcPts val="0"/>
              </a:spcBef>
              <a:spcAft>
                <a:spcPts val="0"/>
              </a:spcAft>
              <a:buClr>
                <a:schemeClr val="dk1"/>
              </a:buClr>
              <a:buSzPts val="1100"/>
              <a:buFont typeface="Arial" panose="020B0604020202020204"/>
              <a:buNone/>
            </a:pPr>
            <a:r>
              <a:rPr lang="en-GB"/>
              <a:t>So domains with more real variation are generally easier to predict.</a:t>
            </a:r>
            <a:endParaRPr lang="en-GB"/>
          </a:p>
          <a:p>
            <a:pPr marL="0" lvl="0" indent="0" algn="l" rtl="0">
              <a:spcBef>
                <a:spcPts val="0"/>
              </a:spcBef>
              <a:spcAft>
                <a:spcPts val="0"/>
              </a:spcAft>
              <a:buClr>
                <a:schemeClr val="dk1"/>
              </a:buClr>
              <a:buSzPts val="1100"/>
              <a:buFont typeface="Arial" panose="020B0604020202020204"/>
              <a:buNone/>
            </a:pPr>
            <a:r>
              <a:rPr lang="en-GB"/>
              <a:t>This is important because a low local r does not always mean the model is failing. In some domains, most variants have very similar true scores, so there is very little variation for any model to explain.</a:t>
            </a:r>
            <a:endParaRPr lang="en-GB"/>
          </a:p>
          <a:p>
            <a:pPr marL="0" lvl="0" indent="0" algn="l" rtl="0">
              <a:spcBef>
                <a:spcPts val="0"/>
              </a:spcBef>
              <a:spcAft>
                <a:spcPts val="0"/>
              </a:spcAft>
              <a:buClr>
                <a:schemeClr val="dk1"/>
              </a:buClr>
              <a:buSzPts val="1100"/>
              <a:buFont typeface="Arial" panose="020B0604020202020204"/>
              <a:buNone/>
            </a:pPr>
            <a:r>
              <a:rPr lang="en-GB"/>
              <a:t>For example, LA3–LA5 have high B variance and high r_B, while LA7 and EGF-A have high S variance and high r_S.</a:t>
            </a:r>
            <a:endParaRPr lang="en-GB"/>
          </a:p>
          <a:p>
            <a:pPr marL="0" lvl="0" indent="0" algn="l" rtl="0">
              <a:spcBef>
                <a:spcPts val="0"/>
              </a:spcBef>
              <a:spcAft>
                <a:spcPts val="0"/>
              </a:spcAft>
              <a:buClr>
                <a:schemeClr val="dk1"/>
              </a:buClr>
              <a:buSzPts val="1100"/>
              <a:buFont typeface="Arial" panose="020B0604020202020204"/>
              <a:buNone/>
            </a:pPr>
            <a:r>
              <a:rPr lang="en-GB"/>
              <a:t>Connection to next page: this lets us distinguish variance-limited regions from genuine model failures. The next slide focuses on the β-propeller, where there is real variation but prediction is still poor.</a:t>
            </a:r>
            <a:endParaRPr lang="en-GB"/>
          </a:p>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9" name="Shape 189"/>
        <p:cNvGrpSpPr/>
        <p:nvPr/>
      </p:nvGrpSpPr>
      <p:grpSpPr>
        <a:xfrm>
          <a:off x="0" y="0"/>
          <a:ext cx="0" cy="0"/>
          <a:chOff x="0" y="0"/>
          <a:chExt cx="0" cy="0"/>
        </a:xfrm>
      </p:grpSpPr>
      <p:sp>
        <p:nvSpPr>
          <p:cNvPr id="190" name="Google Shape;190;g3fa78a620f2_0_45: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fa78a620f2_0_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GB"/>
              <a:t>This page focuses on the β-propeller as a concrete example of a prediction gap.</a:t>
            </a:r>
            <a:endParaRPr lang="en-GB"/>
          </a:p>
          <a:p>
            <a:pPr marL="0" lvl="0" indent="0" algn="l" rtl="0">
              <a:spcBef>
                <a:spcPts val="0"/>
              </a:spcBef>
              <a:spcAft>
                <a:spcPts val="0"/>
              </a:spcAft>
              <a:buClr>
                <a:schemeClr val="dk1"/>
              </a:buClr>
              <a:buSzPts val="1100"/>
              <a:buFont typeface="Arial" panose="020B0604020202020204"/>
              <a:buNone/>
            </a:pPr>
            <a:r>
              <a:rPr lang="en-GB"/>
              <a:t>From the previous slide, we saw that low local r can sometimes happen simply because a domain has very little true phenotype variation. The β-propeller is different: it has meaningful variation in the experimental scores, but the model still predicts it poorly.</a:t>
            </a:r>
            <a:endParaRPr lang="en-GB"/>
          </a:p>
          <a:p>
            <a:pPr marL="0" lvl="0" indent="0" algn="l" rtl="0">
              <a:spcBef>
                <a:spcPts val="0"/>
              </a:spcBef>
              <a:spcAft>
                <a:spcPts val="0"/>
              </a:spcAft>
              <a:buClr>
                <a:schemeClr val="dk1"/>
              </a:buClr>
              <a:buSzPts val="1100"/>
              <a:buFont typeface="Arial" panose="020B0604020202020204"/>
              <a:buNone/>
            </a:pPr>
            <a:r>
              <a:rPr lang="en-GB"/>
              <a:t>Using the same out-of-fold predictions as before, the β-propeller has: r_B = 0.140 and r_S = 0.287</a:t>
            </a:r>
            <a:endParaRPr lang="en-GB"/>
          </a:p>
          <a:p>
            <a:pPr marL="0" lvl="0" indent="0" algn="l" rtl="0">
              <a:spcBef>
                <a:spcPts val="0"/>
              </a:spcBef>
              <a:spcAft>
                <a:spcPts val="0"/>
              </a:spcAft>
              <a:buClr>
                <a:schemeClr val="dk1"/>
              </a:buClr>
              <a:buSzPts val="1100"/>
              <a:buFont typeface="Arial" panose="020B0604020202020204"/>
              <a:buNone/>
            </a:pPr>
            <a:r>
              <a:rPr lang="en-GB"/>
              <a:t>So the model is not capturing the variation in this region nearly as well as it captures B in LA3–LA5 or S in LA7/EGF-A.</a:t>
            </a:r>
            <a:endParaRPr lang="en-GB"/>
          </a:p>
          <a:p>
            <a:pPr marL="0" lvl="0" indent="0" algn="l" rtl="0">
              <a:spcBef>
                <a:spcPts val="0"/>
              </a:spcBef>
              <a:spcAft>
                <a:spcPts val="0"/>
              </a:spcAft>
              <a:buClr>
                <a:schemeClr val="dk1"/>
              </a:buClr>
              <a:buSzPts val="1100"/>
              <a:buFont typeface="Arial" panose="020B0604020202020204"/>
              <a:buNone/>
            </a:pPr>
            <a:r>
              <a:rPr lang="en-GB"/>
              <a:t>The failure analysis supports the same conclusion. The β-propeller represents about 28.1% of all variants, but 45.6% of the worst-predicted 5% for B, so it is clearly overrepresented among large prediction errors.</a:t>
            </a:r>
            <a:endParaRPr lang="en-GB"/>
          </a:p>
          <a:p>
            <a:pPr marL="0" lvl="0" indent="0" algn="l" rtl="0">
              <a:spcBef>
                <a:spcPts val="0"/>
              </a:spcBef>
              <a:spcAft>
                <a:spcPts val="0"/>
              </a:spcAft>
              <a:buClr>
                <a:schemeClr val="dk1"/>
              </a:buClr>
              <a:buSzPts val="1100"/>
              <a:buFont typeface="Arial" panose="020B0604020202020204"/>
              <a:buNone/>
            </a:pPr>
            <a:r>
              <a:rPr lang="en-GB"/>
              <a:t>This makes the β-propeller especially interesting mechanistically. In Part 2, we already proposed that β-propeller mutations may affect endosomal LDL release, which would map to k_off_endo. The current 26-feature set does not explicitly capture that pH-dependent conformational mechanism.</a:t>
            </a:r>
            <a:endParaRPr lang="en-GB"/>
          </a:p>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197"/>
        <p:cNvGrpSpPr/>
        <p:nvPr/>
      </p:nvGrpSpPr>
      <p:grpSpPr>
        <a:xfrm>
          <a:off x="0" y="0"/>
          <a:ext cx="0" cy="0"/>
          <a:chOff x="0" y="0"/>
          <a:chExt cx="0" cy="0"/>
        </a:xfrm>
      </p:grpSpPr>
      <p:sp>
        <p:nvSpPr>
          <p:cNvPr id="198" name="Google Shape;198;g3fa78a620f2_0_53: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fa78a620f2_0_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0" name="Shape 210"/>
        <p:cNvGrpSpPr/>
        <p:nvPr/>
      </p:nvGrpSpPr>
      <p:grpSpPr>
        <a:xfrm>
          <a:off x="0" y="0"/>
          <a:ext cx="0" cy="0"/>
          <a:chOff x="0" y="0"/>
          <a:chExt cx="0" cy="0"/>
        </a:xfrm>
      </p:grpSpPr>
      <p:sp>
        <p:nvSpPr>
          <p:cNvPr id="211" name="Google Shape;211;h7f45493a0351c339_0_0: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h7f45493a0351c339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a:t>This table gives the full per-domain numbers behind slide 15, with MAE added next to r. The highlighted cells are the best-predicted domains: LA3–5 for B, and EGF-A, EGF-C, LA7 and signal for S. The β-propeller row shows the problem: low r (0.14 for B, 0.29 for S) and the highest MAE for S (0.30). So the errors there are large, not just hard to rank. Several domains with low r, such as O-sugar and the pre-TM linker, have small MAE, which means there's little variation to explain rather than poor prediction.</a:t>
            </a:r>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203"/>
        <p:cNvGrpSpPr/>
        <p:nvPr/>
      </p:nvGrpSpPr>
      <p:grpSpPr>
        <a:xfrm>
          <a:off x="0" y="0"/>
          <a:ext cx="0" cy="0"/>
          <a:chOff x="0" y="0"/>
          <a:chExt cx="0" cy="0"/>
        </a:xfrm>
      </p:grpSpPr>
      <p:sp>
        <p:nvSpPr>
          <p:cNvPr id="204" name="Google Shape;204;g3f873a832fa_0_16: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f873a832fa_0_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7" name="Shape 217"/>
        <p:cNvGrpSpPr/>
        <p:nvPr/>
      </p:nvGrpSpPr>
      <p:grpSpPr>
        <a:xfrm>
          <a:off x="0" y="0"/>
          <a:ext cx="0" cy="0"/>
          <a:chOff x="0" y="0"/>
          <a:chExt cx="0" cy="0"/>
        </a:xfrm>
      </p:grpSpPr>
      <p:sp>
        <p:nvSpPr>
          <p:cNvPr id="218" name="Google Shape;218;h7f45493a0351c339_0_1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h7f45493a0351c339_0_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a:t>Here I split the β-propeller into 20-residue windows and computed local r in each. For B, r stays low across the whole propeller, mostly below 0.2, so no single sub-region is well predicted. For S, a few windows do better, especially around residues 574–593 and 614–633 (r ≈ 0.45–0.53). So the difficulty with B is spread across the propeller, not confined to one region.</a:t>
            </a:r>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h7f45493a0351c339_0_7: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h7f45493a0351c339_0_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ltLang="zh-CN"/>
              <a:t>The same analysis in 10-residue windows for each LA repeat. In LA3 and LA4, B is well predicted in nearly every window, so the signal is consistent across the repeat, not driven by a few residues. LA5 is more uneven, and LA1 and LA2 stay low. For S, LA7 is consistently high across all windows, matching its strong domain-level r_S.</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3.xml"/><Relationship Id="rId2" Type="http://schemas.openxmlformats.org/officeDocument/2006/relationships/image" Target="../media/image17.png"/><Relationship Id="rId1" Type="http://schemas.openxmlformats.org/officeDocument/2006/relationships/image" Target="../media/image1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19.png"/><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3.xml"/><Relationship Id="rId2" Type="http://schemas.openxmlformats.org/officeDocument/2006/relationships/image" Target="../media/image21.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424158" y="519150"/>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Clr>
                <a:schemeClr val="dk1"/>
              </a:buClr>
              <a:buSzPts val="1100"/>
              <a:buFont typeface="Arial" panose="020B0604020202020204"/>
              <a:buNone/>
            </a:pPr>
            <a:r>
              <a:rPr lang="en-GB" sz="3400"/>
              <a:t>From Mechanistic Model to</a:t>
            </a:r>
            <a:endParaRPr sz="3400"/>
          </a:p>
          <a:p>
            <a:pPr marL="0" lvl="0" indent="0" algn="ctr" rtl="0">
              <a:spcBef>
                <a:spcPts val="0"/>
              </a:spcBef>
              <a:spcAft>
                <a:spcPts val="0"/>
              </a:spcAft>
              <a:buNone/>
            </a:pPr>
            <a:r>
              <a:rPr lang="en-GB" sz="3400"/>
              <a:t>Variant-Level Inference</a:t>
            </a:r>
            <a:endParaRPr sz="3400"/>
          </a:p>
          <a:p>
            <a:pPr marL="0" lvl="0" indent="0" algn="ctr" rtl="0">
              <a:spcBef>
                <a:spcPts val="0"/>
              </a:spcBef>
              <a:spcAft>
                <a:spcPts val="0"/>
              </a:spcAft>
              <a:buNone/>
            </a:pPr>
            <a:r>
              <a:rPr lang="en-GB" sz="1800">
                <a:solidFill>
                  <a:schemeClr val="dk2"/>
                </a:solidFill>
              </a:rPr>
              <a:t>Rule-based modeling of LDLR variant effects</a:t>
            </a:r>
            <a:endParaRPr sz="1800">
              <a:solidFill>
                <a:schemeClr val="dk2"/>
              </a:solidFill>
            </a:endParaRPr>
          </a:p>
        </p:txBody>
      </p:sp>
      <p:sp>
        <p:nvSpPr>
          <p:cNvPr id="55" name="Google Shape;55;p13"/>
          <p:cNvSpPr txBox="1"/>
          <p:nvPr>
            <p:ph type="subTitle" idx="1"/>
          </p:nvPr>
        </p:nvSpPr>
        <p:spPr>
          <a:xfrm>
            <a:off x="311700" y="3269000"/>
            <a:ext cx="8520600" cy="1319100"/>
          </a:xfrm>
          <a:prstGeom prst="rect">
            <a:avLst/>
          </a:prstGeom>
        </p:spPr>
        <p:txBody>
          <a:bodyPr spcFirstLastPara="1" wrap="square" lIns="91425" tIns="91425" rIns="91425" bIns="91425" anchor="t" anchorCtr="0">
            <a:normAutofit fontScale="70000" lnSpcReduction="20000"/>
          </a:bodyPr>
          <a:lstStyle/>
          <a:p>
            <a:pPr marL="0" lvl="0" indent="0" algn="ctr" rtl="0">
              <a:spcBef>
                <a:spcPts val="0"/>
              </a:spcBef>
              <a:spcAft>
                <a:spcPts val="0"/>
              </a:spcAft>
              <a:buClr>
                <a:schemeClr val="dk1"/>
              </a:buClr>
              <a:buSzPct val="69000"/>
              <a:buFont typeface="Arial" panose="020B0604020202020204"/>
              <a:buNone/>
            </a:pPr>
            <a:r>
              <a:rPr lang="en-GB" sz="1600" b="1"/>
              <a:t>Tianyi Zhang </a:t>
            </a:r>
            <a:endParaRPr sz="1600" b="1"/>
          </a:p>
          <a:p>
            <a:pPr marL="0" lvl="0" indent="0" algn="ctr" rtl="0">
              <a:spcBef>
                <a:spcPts val="0"/>
              </a:spcBef>
              <a:spcAft>
                <a:spcPts val="0"/>
              </a:spcAft>
              <a:buClr>
                <a:schemeClr val="dk1"/>
              </a:buClr>
              <a:buSzPct val="69000"/>
              <a:buFont typeface="Arial" panose="020B0604020202020204"/>
              <a:buNone/>
            </a:pPr>
            <a:endParaRPr sz="1600" b="1"/>
          </a:p>
          <a:p>
            <a:pPr marL="0" lvl="0" indent="0" algn="ctr" rtl="0">
              <a:spcBef>
                <a:spcPts val="0"/>
              </a:spcBef>
              <a:spcAft>
                <a:spcPts val="0"/>
              </a:spcAft>
              <a:buClr>
                <a:schemeClr val="dk1"/>
              </a:buClr>
              <a:buSzPct val="69000"/>
              <a:buFont typeface="Arial" panose="020B0604020202020204"/>
              <a:buNone/>
            </a:pPr>
            <a:r>
              <a:rPr lang="en-GB" sz="1600" b="1"/>
              <a:t>Faeder Lab</a:t>
            </a:r>
            <a:endParaRPr sz="1600" b="1"/>
          </a:p>
          <a:p>
            <a:pPr marL="0" lvl="0" indent="0" algn="ctr" rtl="0">
              <a:spcBef>
                <a:spcPts val="0"/>
              </a:spcBef>
              <a:spcAft>
                <a:spcPts val="0"/>
              </a:spcAft>
              <a:buClr>
                <a:schemeClr val="dk1"/>
              </a:buClr>
              <a:buSzPct val="69000"/>
              <a:buFont typeface="Arial" panose="020B0604020202020204"/>
              <a:buNone/>
            </a:pPr>
            <a:endParaRPr sz="1600" b="1"/>
          </a:p>
          <a:p>
            <a:pPr marL="0" lvl="0" indent="0" algn="ctr" rtl="0">
              <a:spcBef>
                <a:spcPts val="0"/>
              </a:spcBef>
              <a:spcAft>
                <a:spcPts val="0"/>
              </a:spcAft>
              <a:buClr>
                <a:schemeClr val="dk1"/>
              </a:buClr>
              <a:buSzPct val="69000"/>
              <a:buFont typeface="Arial" panose="020B0604020202020204"/>
              <a:buNone/>
            </a:pPr>
            <a:r>
              <a:rPr lang="en-GB" sz="1600" b="1"/>
              <a:t>University of Pittsburgh</a:t>
            </a:r>
            <a:endParaRPr sz="1600" b="1"/>
          </a:p>
          <a:p>
            <a:pPr marL="0" lvl="0" indent="0" algn="ctr" rtl="0">
              <a:spcBef>
                <a:spcPts val="0"/>
              </a:spcBef>
              <a:spcAft>
                <a:spcPts val="0"/>
              </a:spcAft>
              <a:buClr>
                <a:schemeClr val="dk1"/>
              </a:buClr>
              <a:buSzPct val="69000"/>
              <a:buFont typeface="Arial" panose="020B0604020202020204"/>
              <a:buNone/>
            </a:pPr>
            <a:endParaRPr sz="1600"/>
          </a:p>
          <a:p>
            <a:pPr marL="0" lvl="0" indent="0" algn="ctr" rtl="0">
              <a:spcBef>
                <a:spcPts val="0"/>
              </a:spcBef>
              <a:spcAft>
                <a:spcPts val="0"/>
              </a:spcAft>
              <a:buClr>
                <a:schemeClr val="dk1"/>
              </a:buClr>
              <a:buSzPct val="69000"/>
              <a:buFont typeface="Arial" panose="020B0604020202020204"/>
              <a:buNone/>
            </a:pPr>
            <a:r>
              <a:rPr lang="en-GB" sz="1600"/>
              <a:t>Oct 6, 2026</a:t>
            </a:r>
            <a:r>
              <a:rPr lang="en-GB"/>
              <a:t> </a:t>
            </a:r>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14"/>
          <p:cNvSpPr txBox="1"/>
          <p:nvPr>
            <p:ph type="title"/>
          </p:nvPr>
        </p:nvSpPr>
        <p:spPr>
          <a:xfrm>
            <a:off x="189375" y="1109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LDL </a:t>
            </a:r>
            <a:r>
              <a:rPr lang="en-GB"/>
              <a:t>uptake review</a:t>
            </a:r>
            <a:endParaRPr lang="en-GB"/>
          </a:p>
        </p:txBody>
      </p:sp>
      <p:sp>
        <p:nvSpPr>
          <p:cNvPr id="61" name="Google Shape;61;p14"/>
          <p:cNvSpPr txBox="1"/>
          <p:nvPr/>
        </p:nvSpPr>
        <p:spPr>
          <a:xfrm>
            <a:off x="7995050" y="221950"/>
            <a:ext cx="1155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pic>
        <p:nvPicPr>
          <p:cNvPr id="62" name="Google Shape;62;p14" title="d967f556-30e5-43fb-b1a0-9d15c0bfa88c.png"/>
          <p:cNvPicPr preferRelativeResize="0"/>
          <p:nvPr/>
        </p:nvPicPr>
        <p:blipFill>
          <a:blip r:embed="rId1"/>
          <a:stretch>
            <a:fillRect/>
          </a:stretch>
        </p:blipFill>
        <p:spPr>
          <a:xfrm>
            <a:off x="189375" y="827675"/>
            <a:ext cx="8623126" cy="4155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34198"/>
            <a:ext cx="8415600" cy="4593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9000"/>
              <a:buFont typeface="Arial" panose="020B0604020202020204"/>
              <a:buNone/>
            </a:pPr>
            <a:r>
              <a:rPr lang="en-GB" sz="2020"/>
              <a:t>Four phenotype classes from A/F space</a:t>
            </a:r>
            <a:endParaRPr lang="en-GB" sz="2020"/>
          </a:p>
        </p:txBody>
      </p:sp>
      <p:pic>
        <p:nvPicPr>
          <p:cNvPr id="68" name="Google Shape;68;p15"/>
          <p:cNvPicPr preferRelativeResize="0"/>
          <p:nvPr/>
        </p:nvPicPr>
        <p:blipFill>
          <a:blip r:embed="rId1"/>
          <a:stretch>
            <a:fillRect/>
          </a:stretch>
        </p:blipFill>
        <p:spPr>
          <a:xfrm>
            <a:off x="220975" y="50800"/>
            <a:ext cx="5407224" cy="459175"/>
          </a:xfrm>
          <a:prstGeom prst="rect">
            <a:avLst/>
          </a:prstGeom>
          <a:noFill/>
          <a:ln>
            <a:noFill/>
          </a:ln>
        </p:spPr>
      </p:pic>
      <p:sp>
        <p:nvSpPr>
          <p:cNvPr id="69" name="Google Shape;69;p15"/>
          <p:cNvSpPr txBox="1"/>
          <p:nvPr/>
        </p:nvSpPr>
        <p:spPr>
          <a:xfrm>
            <a:off x="311700" y="4163875"/>
            <a:ext cx="4174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a:solidFill>
                  <a:schemeClr val="dk2"/>
                </a:solidFill>
              </a:rPr>
              <a:t>~14,600 LDLR missense variants, each scored on both A and F (Tabet et al., Science 2025).</a:t>
            </a:r>
            <a:endParaRPr>
              <a:solidFill>
                <a:schemeClr val="dk2"/>
              </a:solidFill>
            </a:endParaRPr>
          </a:p>
        </p:txBody>
      </p:sp>
      <p:pic>
        <p:nvPicPr>
          <p:cNvPr id="70" name="Google Shape;70;p15"/>
          <p:cNvPicPr preferRelativeResize="0"/>
          <p:nvPr/>
        </p:nvPicPr>
        <p:blipFill>
          <a:blip r:embed="rId2"/>
          <a:stretch>
            <a:fillRect/>
          </a:stretch>
        </p:blipFill>
        <p:spPr>
          <a:xfrm>
            <a:off x="311700" y="1152475"/>
            <a:ext cx="3126000" cy="1404600"/>
          </a:xfrm>
          <a:prstGeom prst="rect">
            <a:avLst/>
          </a:prstGeom>
          <a:noFill/>
          <a:ln>
            <a:noFill/>
          </a:ln>
        </p:spPr>
      </p:pic>
      <p:pic>
        <p:nvPicPr>
          <p:cNvPr id="71" name="Google Shape;71;p15"/>
          <p:cNvPicPr preferRelativeResize="0"/>
          <p:nvPr/>
        </p:nvPicPr>
        <p:blipFill>
          <a:blip r:embed="rId3"/>
          <a:stretch>
            <a:fillRect/>
          </a:stretch>
        </p:blipFill>
        <p:spPr>
          <a:xfrm>
            <a:off x="311700" y="2693600"/>
            <a:ext cx="3126001" cy="1301888"/>
          </a:xfrm>
          <a:prstGeom prst="rect">
            <a:avLst/>
          </a:prstGeom>
          <a:noFill/>
          <a:ln>
            <a:noFill/>
          </a:ln>
        </p:spPr>
      </p:pic>
      <p:sp>
        <p:nvSpPr>
          <p:cNvPr id="72" name="Google Shape;72;p15"/>
          <p:cNvSpPr txBox="1"/>
          <p:nvPr>
            <p:ph type="body" idx="1"/>
          </p:nvPr>
        </p:nvSpPr>
        <p:spPr>
          <a:xfrm>
            <a:off x="4944250" y="1127663"/>
            <a:ext cx="36822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73" name="Google Shape;73;p15"/>
          <p:cNvPicPr preferRelativeResize="0"/>
          <p:nvPr/>
        </p:nvPicPr>
        <p:blipFill>
          <a:blip r:embed="rId4"/>
          <a:stretch>
            <a:fillRect/>
          </a:stretch>
        </p:blipFill>
        <p:spPr>
          <a:xfrm>
            <a:off x="4486188" y="829750"/>
            <a:ext cx="4416974" cy="3830075"/>
          </a:xfrm>
          <a:prstGeom prst="rect">
            <a:avLst/>
          </a:prstGeom>
          <a:noFill/>
          <a:ln>
            <a:noFill/>
          </a:ln>
        </p:spPr>
      </p:pic>
      <p:sp>
        <p:nvSpPr>
          <p:cNvPr id="74" name="Google Shape;74;p15"/>
          <p:cNvSpPr txBox="1"/>
          <p:nvPr/>
        </p:nvSpPr>
        <p:spPr>
          <a:xfrm>
            <a:off x="7208886" y="2856100"/>
            <a:ext cx="13080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Cluster 2</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GB" sz="800"/>
              <a:t>Abundance-defect</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GB" sz="800"/>
              <a:t>low A, high F</a:t>
            </a:r>
            <a:endParaRPr lang="en-GB" sz="800"/>
          </a:p>
        </p:txBody>
      </p:sp>
      <p:sp>
        <p:nvSpPr>
          <p:cNvPr id="75" name="Google Shape;75;p15"/>
          <p:cNvSpPr txBox="1"/>
          <p:nvPr/>
        </p:nvSpPr>
        <p:spPr>
          <a:xfrm>
            <a:off x="7354675" y="1650375"/>
            <a:ext cx="1016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solidFill>
                  <a:schemeClr val="lt1"/>
                </a:solidFill>
              </a:rPr>
              <a:t>Cluster 0</a:t>
            </a: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r>
              <a:rPr lang="en-GB" sz="800">
                <a:solidFill>
                  <a:schemeClr val="lt1"/>
                </a:solidFill>
              </a:rPr>
              <a:t>WT-like</a:t>
            </a: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r>
              <a:rPr lang="en-GB" sz="800">
                <a:solidFill>
                  <a:schemeClr val="lt1"/>
                </a:solidFill>
              </a:rPr>
              <a:t>high A, high F</a:t>
            </a:r>
            <a:endParaRPr>
              <a:solidFill>
                <a:schemeClr val="lt1"/>
              </a:solidFill>
            </a:endParaRPr>
          </a:p>
        </p:txBody>
      </p:sp>
      <p:sp>
        <p:nvSpPr>
          <p:cNvPr id="76" name="Google Shape;76;p15"/>
          <p:cNvSpPr txBox="1"/>
          <p:nvPr/>
        </p:nvSpPr>
        <p:spPr>
          <a:xfrm>
            <a:off x="6032175" y="3156525"/>
            <a:ext cx="10164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solidFill>
                  <a:schemeClr val="lt1"/>
                </a:solidFill>
              </a:rPr>
              <a:t>Cluster 1</a:t>
            </a: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r>
              <a:rPr lang="en-GB" sz="800">
                <a:solidFill>
                  <a:schemeClr val="lt1"/>
                </a:solidFill>
              </a:rPr>
              <a:t>Severe / null</a:t>
            </a:r>
            <a:endParaRPr sz="800">
              <a:solidFill>
                <a:schemeClr val="lt1"/>
              </a:solidFill>
            </a:endParaRPr>
          </a:p>
          <a:p>
            <a:pPr marL="0" lvl="0" indent="0" algn="l" rtl="0">
              <a:spcBef>
                <a:spcPts val="0"/>
              </a:spcBef>
              <a:spcAft>
                <a:spcPts val="0"/>
              </a:spcAft>
              <a:buNone/>
            </a:pPr>
            <a:endParaRPr sz="800">
              <a:solidFill>
                <a:schemeClr val="lt1"/>
              </a:solidFill>
            </a:endParaRPr>
          </a:p>
          <a:p>
            <a:pPr marL="0" lvl="0" indent="0" algn="l" rtl="0">
              <a:spcBef>
                <a:spcPts val="0"/>
              </a:spcBef>
              <a:spcAft>
                <a:spcPts val="0"/>
              </a:spcAft>
              <a:buNone/>
            </a:pPr>
            <a:r>
              <a:rPr lang="en-GB" sz="800">
                <a:solidFill>
                  <a:schemeClr val="lt1"/>
                </a:solidFill>
              </a:rPr>
              <a:t>low A, low F</a:t>
            </a:r>
            <a:endParaRPr>
              <a:solidFill>
                <a:schemeClr val="lt1"/>
              </a:solidFill>
            </a:endParaRPr>
          </a:p>
        </p:txBody>
      </p:sp>
      <p:sp>
        <p:nvSpPr>
          <p:cNvPr id="77" name="Google Shape;77;p15"/>
          <p:cNvSpPr txBox="1"/>
          <p:nvPr/>
        </p:nvSpPr>
        <p:spPr>
          <a:xfrm>
            <a:off x="6158875" y="1781800"/>
            <a:ext cx="1071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t>Cluster 3</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GB" sz="800"/>
              <a:t>Function-defect</a:t>
            </a:r>
            <a:endParaRPr sz="800"/>
          </a:p>
          <a:p>
            <a:pPr marL="0" lvl="0" indent="0" algn="l" rtl="0">
              <a:spcBef>
                <a:spcPts val="0"/>
              </a:spcBef>
              <a:spcAft>
                <a:spcPts val="0"/>
              </a:spcAft>
              <a:buNone/>
            </a:pPr>
            <a:endParaRPr sz="800"/>
          </a:p>
          <a:p>
            <a:pPr marL="0" lvl="0" indent="0" algn="l" rtl="0">
              <a:spcBef>
                <a:spcPts val="0"/>
              </a:spcBef>
              <a:spcAft>
                <a:spcPts val="0"/>
              </a:spcAft>
              <a:buNone/>
            </a:pPr>
            <a:r>
              <a:rPr lang="en-GB" sz="800"/>
              <a:t>high A, low F</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0" name="Shape 100"/>
        <p:cNvGrpSpPr/>
        <p:nvPr/>
      </p:nvGrpSpPr>
      <p:grpSpPr>
        <a:xfrm>
          <a:off x="0" y="0"/>
          <a:ext cx="0" cy="0"/>
          <a:chOff x="0" y="0"/>
          <a:chExt cx="0" cy="0"/>
        </a:xfrm>
      </p:grpSpPr>
      <p:sp>
        <p:nvSpPr>
          <p:cNvPr id="101" name="Google Shape;101;p17"/>
          <p:cNvSpPr txBox="1"/>
          <p:nvPr>
            <p:ph type="title"/>
          </p:nvPr>
        </p:nvSpPr>
        <p:spPr>
          <a:xfrm>
            <a:off x="220975" y="666622"/>
            <a:ext cx="8520600" cy="45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Latin Hypercube Sampling explores the reachable A–F space </a:t>
            </a:r>
            <a:endParaRPr sz="1800"/>
          </a:p>
        </p:txBody>
      </p:sp>
      <p:pic>
        <p:nvPicPr>
          <p:cNvPr id="102" name="Google Shape;102;p17"/>
          <p:cNvPicPr preferRelativeResize="0"/>
          <p:nvPr/>
        </p:nvPicPr>
        <p:blipFill>
          <a:blip r:embed="rId1"/>
          <a:stretch>
            <a:fillRect/>
          </a:stretch>
        </p:blipFill>
        <p:spPr>
          <a:xfrm>
            <a:off x="220975" y="59650"/>
            <a:ext cx="5407224" cy="459175"/>
          </a:xfrm>
          <a:prstGeom prst="rect">
            <a:avLst/>
          </a:prstGeom>
          <a:noFill/>
          <a:ln>
            <a:noFill/>
          </a:ln>
        </p:spPr>
      </p:pic>
      <p:pic>
        <p:nvPicPr>
          <p:cNvPr id="103" name="Google Shape;103;p17" title="ee164667-d712-4479-a519-3030386f616d.png"/>
          <p:cNvPicPr preferRelativeResize="0"/>
          <p:nvPr/>
        </p:nvPicPr>
        <p:blipFill>
          <a:blip r:embed="rId2"/>
          <a:stretch>
            <a:fillRect/>
          </a:stretch>
        </p:blipFill>
        <p:spPr>
          <a:xfrm>
            <a:off x="382600" y="1273722"/>
            <a:ext cx="6596985" cy="37127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16"/>
          <p:cNvSpPr txBox="1"/>
          <p:nvPr>
            <p:ph type="title"/>
          </p:nvPr>
        </p:nvSpPr>
        <p:spPr>
          <a:xfrm>
            <a:off x="220975" y="666622"/>
            <a:ext cx="8520600" cy="45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Can the model reproduce mutant phenotypes? </a:t>
            </a:r>
            <a:endParaRPr sz="1800"/>
          </a:p>
        </p:txBody>
      </p:sp>
      <p:pic>
        <p:nvPicPr>
          <p:cNvPr id="83" name="Google Shape;83;p16"/>
          <p:cNvPicPr preferRelativeResize="0"/>
          <p:nvPr/>
        </p:nvPicPr>
        <p:blipFill>
          <a:blip r:embed="rId1"/>
          <a:stretch>
            <a:fillRect/>
          </a:stretch>
        </p:blipFill>
        <p:spPr>
          <a:xfrm>
            <a:off x="220975" y="59650"/>
            <a:ext cx="5407224" cy="459175"/>
          </a:xfrm>
          <a:prstGeom prst="rect">
            <a:avLst/>
          </a:prstGeom>
          <a:noFill/>
          <a:ln>
            <a:noFill/>
          </a:ln>
        </p:spPr>
      </p:pic>
      <p:pic>
        <p:nvPicPr>
          <p:cNvPr id="84" name="Google Shape;84;p16" title="a8695055-133a-4bdc-adf0-19478e4f01a6.png"/>
          <p:cNvPicPr preferRelativeResize="0"/>
          <p:nvPr/>
        </p:nvPicPr>
        <p:blipFill rotWithShape="1">
          <a:blip r:embed="rId2"/>
          <a:srcRect t="20417" r="31455" b="18907"/>
          <a:stretch>
            <a:fillRect/>
          </a:stretch>
        </p:blipFill>
        <p:spPr>
          <a:xfrm>
            <a:off x="311700" y="1468450"/>
            <a:ext cx="5571501" cy="2529526"/>
          </a:xfrm>
          <a:prstGeom prst="rect">
            <a:avLst/>
          </a:prstGeom>
          <a:noFill/>
          <a:ln>
            <a:noFill/>
          </a:ln>
        </p:spPr>
      </p:pic>
      <p:pic>
        <p:nvPicPr>
          <p:cNvPr id="85" name="Google Shape;85;p16" title="8513bfa9-a32c-4d42-a995-89b641de3499.png"/>
          <p:cNvPicPr preferRelativeResize="0"/>
          <p:nvPr/>
        </p:nvPicPr>
        <p:blipFill>
          <a:blip r:embed="rId3"/>
          <a:stretch>
            <a:fillRect/>
          </a:stretch>
        </p:blipFill>
        <p:spPr>
          <a:xfrm>
            <a:off x="5961176" y="1518147"/>
            <a:ext cx="2956001" cy="2514774"/>
          </a:xfrm>
          <a:prstGeom prst="rect">
            <a:avLst/>
          </a:prstGeom>
          <a:noFill/>
          <a:ln>
            <a:noFill/>
          </a:ln>
        </p:spPr>
      </p:pic>
      <p:sp>
        <p:nvSpPr>
          <p:cNvPr id="86" name="Google Shape;86;p16"/>
          <p:cNvSpPr/>
          <p:nvPr/>
        </p:nvSpPr>
        <p:spPr>
          <a:xfrm>
            <a:off x="7785125" y="2493150"/>
            <a:ext cx="148800" cy="157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87" name="Google Shape;87;p16"/>
          <p:cNvSpPr txBox="1"/>
          <p:nvPr/>
        </p:nvSpPr>
        <p:spPr>
          <a:xfrm>
            <a:off x="7776875" y="2198900"/>
            <a:ext cx="570600" cy="2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800">
                <a:solidFill>
                  <a:schemeClr val="dk2"/>
                </a:solidFill>
              </a:rPr>
              <a:t>WT(1,1)</a:t>
            </a:r>
            <a:endParaRPr sz="800">
              <a:solidFill>
                <a:schemeClr val="dk2"/>
              </a:solidFill>
            </a:endParaRPr>
          </a:p>
        </p:txBody>
      </p:sp>
      <p:sp>
        <p:nvSpPr>
          <p:cNvPr id="88" name="Google Shape;88;p16"/>
          <p:cNvSpPr/>
          <p:nvPr/>
        </p:nvSpPr>
        <p:spPr>
          <a:xfrm>
            <a:off x="6672325" y="2571750"/>
            <a:ext cx="148800" cy="157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1"/>
              </a:solidFill>
            </a:endParaRPr>
          </a:p>
        </p:txBody>
      </p:sp>
      <p:sp>
        <p:nvSpPr>
          <p:cNvPr id="89" name="Google Shape;89;p16"/>
          <p:cNvSpPr/>
          <p:nvPr/>
        </p:nvSpPr>
        <p:spPr>
          <a:xfrm>
            <a:off x="6564875" y="3286450"/>
            <a:ext cx="148800" cy="157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0" name="Google Shape;90;p16"/>
          <p:cNvSpPr/>
          <p:nvPr/>
        </p:nvSpPr>
        <p:spPr>
          <a:xfrm>
            <a:off x="7636325" y="3286450"/>
            <a:ext cx="148800" cy="1572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p>
        </p:txBody>
      </p:sp>
      <p:sp>
        <p:nvSpPr>
          <p:cNvPr id="91" name="Google Shape;91;p16"/>
          <p:cNvSpPr txBox="1"/>
          <p:nvPr/>
        </p:nvSpPr>
        <p:spPr>
          <a:xfrm>
            <a:off x="6511500" y="2198900"/>
            <a:ext cx="889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solidFill>
                  <a:schemeClr val="dk2"/>
                </a:solidFill>
              </a:rPr>
              <a:t>Abundance </a:t>
            </a:r>
            <a:endParaRPr sz="800">
              <a:solidFill>
                <a:schemeClr val="dk2"/>
              </a:solidFill>
            </a:endParaRPr>
          </a:p>
          <a:p>
            <a:pPr marL="0" lvl="0" indent="0" algn="l" rtl="0">
              <a:spcBef>
                <a:spcPts val="0"/>
              </a:spcBef>
              <a:spcAft>
                <a:spcPts val="0"/>
              </a:spcAft>
              <a:buNone/>
            </a:pPr>
            <a:r>
              <a:rPr lang="en-GB" sz="800">
                <a:solidFill>
                  <a:schemeClr val="dk2"/>
                </a:solidFill>
              </a:rPr>
              <a:t>defect</a:t>
            </a:r>
            <a:endParaRPr sz="800">
              <a:solidFill>
                <a:schemeClr val="dk2"/>
              </a:solidFill>
            </a:endParaRPr>
          </a:p>
        </p:txBody>
      </p:sp>
      <p:sp>
        <p:nvSpPr>
          <p:cNvPr id="92" name="Google Shape;92;p16"/>
          <p:cNvSpPr txBox="1"/>
          <p:nvPr/>
        </p:nvSpPr>
        <p:spPr>
          <a:xfrm>
            <a:off x="6511500" y="2878425"/>
            <a:ext cx="613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solidFill>
                  <a:schemeClr val="dk2"/>
                </a:solidFill>
              </a:rPr>
              <a:t>Severe</a:t>
            </a:r>
            <a:endParaRPr sz="800">
              <a:solidFill>
                <a:schemeClr val="dk2"/>
              </a:solidFill>
            </a:endParaRPr>
          </a:p>
          <a:p>
            <a:pPr marL="0" lvl="0" indent="0" algn="l" rtl="0">
              <a:spcBef>
                <a:spcPts val="0"/>
              </a:spcBef>
              <a:spcAft>
                <a:spcPts val="0"/>
              </a:spcAft>
              <a:buNone/>
            </a:pPr>
            <a:r>
              <a:rPr lang="en-GB" sz="800">
                <a:solidFill>
                  <a:schemeClr val="dk2"/>
                </a:solidFill>
              </a:rPr>
              <a:t>/null</a:t>
            </a:r>
            <a:endParaRPr lang="en-GB" sz="800">
              <a:solidFill>
                <a:schemeClr val="dk2"/>
              </a:solidFill>
            </a:endParaRPr>
          </a:p>
        </p:txBody>
      </p:sp>
      <p:sp>
        <p:nvSpPr>
          <p:cNvPr id="93" name="Google Shape;93;p16"/>
          <p:cNvSpPr txBox="1"/>
          <p:nvPr/>
        </p:nvSpPr>
        <p:spPr>
          <a:xfrm>
            <a:off x="7843025" y="3135850"/>
            <a:ext cx="6135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800">
                <a:solidFill>
                  <a:schemeClr val="dk2"/>
                </a:solidFill>
              </a:rPr>
              <a:t>Function </a:t>
            </a:r>
            <a:endParaRPr sz="800">
              <a:solidFill>
                <a:schemeClr val="dk2"/>
              </a:solidFill>
            </a:endParaRPr>
          </a:p>
          <a:p>
            <a:pPr marL="0" lvl="0" indent="0" algn="l" rtl="0">
              <a:spcBef>
                <a:spcPts val="0"/>
              </a:spcBef>
              <a:spcAft>
                <a:spcPts val="0"/>
              </a:spcAft>
              <a:buNone/>
            </a:pPr>
            <a:r>
              <a:rPr lang="en-GB" sz="800">
                <a:solidFill>
                  <a:schemeClr val="dk2"/>
                </a:solidFill>
              </a:rPr>
              <a:t>defect</a:t>
            </a:r>
            <a:endParaRPr lang="en-GB" sz="800">
              <a:solidFill>
                <a:schemeClr val="dk2"/>
              </a:solidFill>
            </a:endParaRPr>
          </a:p>
        </p:txBody>
      </p:sp>
      <p:cxnSp>
        <p:nvCxnSpPr>
          <p:cNvPr id="94" name="Google Shape;94;p16"/>
          <p:cNvCxnSpPr/>
          <p:nvPr/>
        </p:nvCxnSpPr>
        <p:spPr>
          <a:xfrm flipH="1">
            <a:off x="6883125" y="2540400"/>
            <a:ext cx="840000" cy="62700"/>
          </a:xfrm>
          <a:prstGeom prst="straightConnector1">
            <a:avLst/>
          </a:prstGeom>
          <a:noFill/>
          <a:ln w="9525" cap="flat" cmpd="sng">
            <a:solidFill>
              <a:schemeClr val="dk2"/>
            </a:solidFill>
            <a:prstDash val="solid"/>
            <a:round/>
            <a:headEnd type="none" w="med" len="med"/>
            <a:tailEnd type="triangle" w="med" len="med"/>
          </a:ln>
        </p:spPr>
      </p:cxnSp>
      <p:cxnSp>
        <p:nvCxnSpPr>
          <p:cNvPr id="95" name="Google Shape;95;p16"/>
          <p:cNvCxnSpPr/>
          <p:nvPr/>
        </p:nvCxnSpPr>
        <p:spPr>
          <a:xfrm flipH="1">
            <a:off x="6792975" y="2719875"/>
            <a:ext cx="901200" cy="612000"/>
          </a:xfrm>
          <a:prstGeom prst="straightConnector1">
            <a:avLst/>
          </a:prstGeom>
          <a:noFill/>
          <a:ln w="9525" cap="flat" cmpd="sng">
            <a:solidFill>
              <a:schemeClr val="dk2"/>
            </a:solidFill>
            <a:prstDash val="solid"/>
            <a:round/>
            <a:headEnd type="none" w="med" len="med"/>
            <a:tailEnd type="triangle" w="med" len="med"/>
          </a:ln>
        </p:spPr>
      </p:cxnSp>
      <p:cxnSp>
        <p:nvCxnSpPr>
          <p:cNvPr id="96" name="Google Shape;96;p16"/>
          <p:cNvCxnSpPr>
            <a:endCxn id="90" idx="7"/>
          </p:cNvCxnSpPr>
          <p:nvPr/>
        </p:nvCxnSpPr>
        <p:spPr>
          <a:xfrm flipH="1">
            <a:off x="7763334" y="2785971"/>
            <a:ext cx="79800" cy="5235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220975" y="666622"/>
            <a:ext cx="8520600" cy="45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Sensitivity analysis identifies influential parameters </a:t>
            </a:r>
            <a:endParaRPr sz="1800"/>
          </a:p>
        </p:txBody>
      </p:sp>
      <p:pic>
        <p:nvPicPr>
          <p:cNvPr id="109" name="Google Shape;109;p18"/>
          <p:cNvPicPr preferRelativeResize="0"/>
          <p:nvPr/>
        </p:nvPicPr>
        <p:blipFill>
          <a:blip r:embed="rId1"/>
          <a:stretch>
            <a:fillRect/>
          </a:stretch>
        </p:blipFill>
        <p:spPr>
          <a:xfrm>
            <a:off x="220975" y="59650"/>
            <a:ext cx="5407224" cy="459175"/>
          </a:xfrm>
          <a:prstGeom prst="rect">
            <a:avLst/>
          </a:prstGeom>
          <a:noFill/>
          <a:ln>
            <a:noFill/>
          </a:ln>
        </p:spPr>
      </p:pic>
      <p:pic>
        <p:nvPicPr>
          <p:cNvPr id="110" name="Google Shape;110;p18" title="fe682e5b-a659-4241-a335-4eb0822511db.png"/>
          <p:cNvPicPr preferRelativeResize="0"/>
          <p:nvPr/>
        </p:nvPicPr>
        <p:blipFill rotWithShape="1">
          <a:blip r:embed="rId2"/>
          <a:srcRect b="27631"/>
          <a:stretch>
            <a:fillRect/>
          </a:stretch>
        </p:blipFill>
        <p:spPr>
          <a:xfrm>
            <a:off x="93663" y="1402300"/>
            <a:ext cx="8775224" cy="31753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220975" y="666622"/>
            <a:ext cx="8520600" cy="45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Inverse fitting and model reachability   </a:t>
            </a:r>
            <a:endParaRPr sz="1800"/>
          </a:p>
        </p:txBody>
      </p:sp>
      <p:pic>
        <p:nvPicPr>
          <p:cNvPr id="116" name="Google Shape;116;p19"/>
          <p:cNvPicPr preferRelativeResize="0"/>
          <p:nvPr/>
        </p:nvPicPr>
        <p:blipFill>
          <a:blip r:embed="rId1"/>
          <a:stretch>
            <a:fillRect/>
          </a:stretch>
        </p:blipFill>
        <p:spPr>
          <a:xfrm>
            <a:off x="220975" y="59650"/>
            <a:ext cx="5407224" cy="459175"/>
          </a:xfrm>
          <a:prstGeom prst="rect">
            <a:avLst/>
          </a:prstGeom>
          <a:noFill/>
          <a:ln>
            <a:noFill/>
          </a:ln>
        </p:spPr>
      </p:pic>
      <p:pic>
        <p:nvPicPr>
          <p:cNvPr id="117" name="Google Shape;117;p19" title="f0ce9f1b-e822-4b1e-bdfc-d9c0726dd68e.png"/>
          <p:cNvPicPr preferRelativeResize="0"/>
          <p:nvPr/>
        </p:nvPicPr>
        <p:blipFill rotWithShape="1">
          <a:blip r:embed="rId2"/>
          <a:srcRect b="7885"/>
          <a:stretch>
            <a:fillRect/>
          </a:stretch>
        </p:blipFill>
        <p:spPr>
          <a:xfrm>
            <a:off x="292975" y="1125925"/>
            <a:ext cx="6056099" cy="3719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GB" sz="1820"/>
              <a:t>Ground the model in variant data </a:t>
            </a:r>
            <a:endParaRPr sz="1820"/>
          </a:p>
        </p:txBody>
      </p:sp>
      <p:pic>
        <p:nvPicPr>
          <p:cNvPr id="123" name="Google Shape;123;p20"/>
          <p:cNvPicPr preferRelativeResize="0"/>
          <p:nvPr/>
        </p:nvPicPr>
        <p:blipFill>
          <a:blip r:embed="rId1"/>
          <a:stretch>
            <a:fillRect/>
          </a:stretch>
        </p:blipFill>
        <p:spPr>
          <a:xfrm>
            <a:off x="311700" y="78925"/>
            <a:ext cx="5198575" cy="366215"/>
          </a:xfrm>
          <a:prstGeom prst="rect">
            <a:avLst/>
          </a:prstGeom>
          <a:noFill/>
          <a:ln>
            <a:noFill/>
          </a:ln>
        </p:spPr>
      </p:pic>
      <p:pic>
        <p:nvPicPr>
          <p:cNvPr id="124" name="Google Shape;124;p20" title="1cf667c9-95e5-43ed-8126-96cc60cba6e6.png"/>
          <p:cNvPicPr preferRelativeResize="0"/>
          <p:nvPr/>
        </p:nvPicPr>
        <p:blipFill rotWithShape="1">
          <a:blip r:embed="rId2"/>
          <a:srcRect t="12376" b="16541"/>
          <a:stretch>
            <a:fillRect/>
          </a:stretch>
        </p:blipFill>
        <p:spPr>
          <a:xfrm>
            <a:off x="560200" y="1344825"/>
            <a:ext cx="6871326" cy="27489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8" name="Shape 128"/>
        <p:cNvGrpSpPr/>
        <p:nvPr/>
      </p:nvGrpSpPr>
      <p:grpSpPr>
        <a:xfrm>
          <a:off x="0" y="0"/>
          <a:ext cx="0" cy="0"/>
          <a:chOff x="0" y="0"/>
          <a:chExt cx="0" cy="0"/>
        </a:xfrm>
      </p:grpSpPr>
      <p:sp>
        <p:nvSpPr>
          <p:cNvPr id="129" name="Google Shape;129;p21"/>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GB" sz="1820"/>
              <a:t>Mutation type shows trends but does not uniquely determine phenotype </a:t>
            </a:r>
            <a:endParaRPr sz="1820"/>
          </a:p>
        </p:txBody>
      </p:sp>
      <p:sp>
        <p:nvSpPr>
          <p:cNvPr id="130" name="Google Shape;130;p21"/>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31" name="Google Shape;131;p21"/>
          <p:cNvPicPr preferRelativeResize="0"/>
          <p:nvPr/>
        </p:nvPicPr>
        <p:blipFill>
          <a:blip r:embed="rId1"/>
          <a:stretch>
            <a:fillRect/>
          </a:stretch>
        </p:blipFill>
        <p:spPr>
          <a:xfrm>
            <a:off x="311700" y="78925"/>
            <a:ext cx="5198575" cy="366215"/>
          </a:xfrm>
          <a:prstGeom prst="rect">
            <a:avLst/>
          </a:prstGeom>
          <a:noFill/>
          <a:ln>
            <a:noFill/>
          </a:ln>
        </p:spPr>
      </p:pic>
      <p:pic>
        <p:nvPicPr>
          <p:cNvPr id="132" name="Google Shape;132;p21" title="3dc4024e-5770-44b7-bddb-bb100f89d740.png"/>
          <p:cNvPicPr preferRelativeResize="0"/>
          <p:nvPr/>
        </p:nvPicPr>
        <p:blipFill rotWithShape="1">
          <a:blip r:embed="rId2"/>
          <a:srcRect t="8651" b="5696"/>
          <a:stretch>
            <a:fillRect/>
          </a:stretch>
        </p:blipFill>
        <p:spPr>
          <a:xfrm>
            <a:off x="493050" y="1017725"/>
            <a:ext cx="7018099" cy="4007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GB" sz="1820"/>
              <a:t>LDLR phenotype depends strongly on protein region </a:t>
            </a:r>
            <a:endParaRPr sz="1820"/>
          </a:p>
        </p:txBody>
      </p:sp>
      <p:sp>
        <p:nvSpPr>
          <p:cNvPr id="138" name="Google Shape;138;p22"/>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39" name="Google Shape;139;p22"/>
          <p:cNvPicPr preferRelativeResize="0"/>
          <p:nvPr/>
        </p:nvPicPr>
        <p:blipFill>
          <a:blip r:embed="rId1"/>
          <a:stretch>
            <a:fillRect/>
          </a:stretch>
        </p:blipFill>
        <p:spPr>
          <a:xfrm>
            <a:off x="311700" y="78925"/>
            <a:ext cx="5198575" cy="366215"/>
          </a:xfrm>
          <a:prstGeom prst="rect">
            <a:avLst/>
          </a:prstGeom>
          <a:noFill/>
          <a:ln>
            <a:noFill/>
          </a:ln>
        </p:spPr>
      </p:pic>
      <p:pic>
        <p:nvPicPr>
          <p:cNvPr id="140" name="Google Shape;140;p22" title="a6e7769b-bf32-44f7-8e5a-3381e4416ce2.png"/>
          <p:cNvPicPr preferRelativeResize="0"/>
          <p:nvPr/>
        </p:nvPicPr>
        <p:blipFill rotWithShape="1">
          <a:blip r:embed="rId2"/>
          <a:srcRect t="10825" b="8452"/>
          <a:stretch>
            <a:fillRect/>
          </a:stretch>
        </p:blipFill>
        <p:spPr>
          <a:xfrm>
            <a:off x="382525" y="1017725"/>
            <a:ext cx="7217176" cy="38839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2" name="Shape 152"/>
        <p:cNvGrpSpPr/>
        <p:nvPr/>
      </p:nvGrpSpPr>
      <p:grpSpPr>
        <a:xfrm>
          <a:off x="0" y="0"/>
          <a:ext cx="0" cy="0"/>
          <a:chOff x="0" y="0"/>
          <a:chExt cx="0" cy="0"/>
        </a:xfrm>
      </p:grpSpPr>
      <p:sp>
        <p:nvSpPr>
          <p:cNvPr id="153" name="Google Shape;153;p24"/>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Predict phenotype components before mechanism </a:t>
            </a:r>
            <a:endParaRPr sz="1800"/>
          </a:p>
        </p:txBody>
      </p:sp>
      <p:sp>
        <p:nvSpPr>
          <p:cNvPr id="154" name="Google Shape;154;p2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55" name="Google Shape;155;p24"/>
          <p:cNvPicPr preferRelativeResize="0"/>
          <p:nvPr/>
        </p:nvPicPr>
        <p:blipFill>
          <a:blip r:embed="rId1"/>
          <a:stretch>
            <a:fillRect/>
          </a:stretch>
        </p:blipFill>
        <p:spPr>
          <a:xfrm>
            <a:off x="311700" y="65600"/>
            <a:ext cx="5322026" cy="327575"/>
          </a:xfrm>
          <a:prstGeom prst="rect">
            <a:avLst/>
          </a:prstGeom>
          <a:noFill/>
          <a:ln>
            <a:noFill/>
          </a:ln>
        </p:spPr>
      </p:pic>
      <p:pic>
        <p:nvPicPr>
          <p:cNvPr id="156" name="Google Shape;156;p24" title="049d265d-d63c-42aa-b7ee-3917ec4b408e.png"/>
          <p:cNvPicPr preferRelativeResize="0"/>
          <p:nvPr/>
        </p:nvPicPr>
        <p:blipFill rotWithShape="1">
          <a:blip r:embed="rId2"/>
          <a:srcRect t="11113" b="11175"/>
          <a:stretch>
            <a:fillRect/>
          </a:stretch>
        </p:blipFill>
        <p:spPr>
          <a:xfrm>
            <a:off x="311700" y="1090525"/>
            <a:ext cx="7613949" cy="3330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The 26-feature vector </a:t>
            </a:r>
            <a:endParaRPr sz="1800"/>
          </a:p>
        </p:txBody>
      </p:sp>
      <p:sp>
        <p:nvSpPr>
          <p:cNvPr id="162" name="Google Shape;162;p25"/>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63" name="Google Shape;163;p25"/>
          <p:cNvPicPr preferRelativeResize="0"/>
          <p:nvPr/>
        </p:nvPicPr>
        <p:blipFill>
          <a:blip r:embed="rId1"/>
          <a:stretch>
            <a:fillRect/>
          </a:stretch>
        </p:blipFill>
        <p:spPr>
          <a:xfrm>
            <a:off x="311700" y="65600"/>
            <a:ext cx="5322026" cy="327575"/>
          </a:xfrm>
          <a:prstGeom prst="rect">
            <a:avLst/>
          </a:prstGeom>
          <a:noFill/>
          <a:ln>
            <a:noFill/>
          </a:ln>
        </p:spPr>
      </p:pic>
      <p:pic>
        <p:nvPicPr>
          <p:cNvPr id="164" name="Google Shape;164;p25" title="172e9090-949d-4dc0-8273-204a7ed87268.png"/>
          <p:cNvPicPr preferRelativeResize="0"/>
          <p:nvPr/>
        </p:nvPicPr>
        <p:blipFill rotWithShape="1">
          <a:blip r:embed="rId2"/>
          <a:srcRect/>
          <a:stretch>
            <a:fillRect/>
          </a:stretch>
        </p:blipFill>
        <p:spPr>
          <a:xfrm>
            <a:off x="311700" y="981375"/>
            <a:ext cx="7139549" cy="35449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44" name="Shape 144"/>
        <p:cNvGrpSpPr/>
        <p:nvPr/>
      </p:nvGrpSpPr>
      <p:grpSpPr>
        <a:xfrm>
          <a:off x="0" y="0"/>
          <a:ext cx="0" cy="0"/>
          <a:chOff x="0" y="0"/>
          <a:chExt cx="0" cy="0"/>
        </a:xfrm>
      </p:grpSpPr>
      <p:sp>
        <p:nvSpPr>
          <p:cNvPr id="145" name="Google Shape;145;p23"/>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GB" sz="1820"/>
              <a:t>Domain + mutation pattern suggests distinct mechanisms </a:t>
            </a:r>
            <a:endParaRPr sz="1820"/>
          </a:p>
        </p:txBody>
      </p:sp>
      <p:sp>
        <p:nvSpPr>
          <p:cNvPr id="146" name="Google Shape;146;p23"/>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47" name="Google Shape;147;p23"/>
          <p:cNvPicPr preferRelativeResize="0"/>
          <p:nvPr/>
        </p:nvPicPr>
        <p:blipFill>
          <a:blip r:embed="rId1"/>
          <a:stretch>
            <a:fillRect/>
          </a:stretch>
        </p:blipFill>
        <p:spPr>
          <a:xfrm>
            <a:off x="311700" y="78925"/>
            <a:ext cx="5198575" cy="366215"/>
          </a:xfrm>
          <a:prstGeom prst="rect">
            <a:avLst/>
          </a:prstGeom>
          <a:noFill/>
          <a:ln>
            <a:noFill/>
          </a:ln>
        </p:spPr>
      </p:pic>
      <p:pic>
        <p:nvPicPr>
          <p:cNvPr id="148" name="Google Shape;148;p23" title="8ef2e877-0110-40f8-b8be-022f70e4e863.png"/>
          <p:cNvPicPr preferRelativeResize="0"/>
          <p:nvPr/>
        </p:nvPicPr>
        <p:blipFill rotWithShape="1">
          <a:blip r:embed="rId2"/>
          <a:srcRect t="8647" b="3387"/>
          <a:stretch>
            <a:fillRect/>
          </a:stretch>
        </p:blipFill>
        <p:spPr>
          <a:xfrm>
            <a:off x="311700" y="949650"/>
            <a:ext cx="7261425" cy="411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Can the 26 features predict B and S? </a:t>
            </a:r>
            <a:endParaRPr sz="1800"/>
          </a:p>
        </p:txBody>
      </p:sp>
      <p:sp>
        <p:nvSpPr>
          <p:cNvPr id="170" name="Google Shape;170;p26"/>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71" name="Google Shape;171;p26"/>
          <p:cNvPicPr preferRelativeResize="0"/>
          <p:nvPr/>
        </p:nvPicPr>
        <p:blipFill>
          <a:blip r:embed="rId1"/>
          <a:stretch>
            <a:fillRect/>
          </a:stretch>
        </p:blipFill>
        <p:spPr>
          <a:xfrm>
            <a:off x="311700" y="65600"/>
            <a:ext cx="5322026" cy="327575"/>
          </a:xfrm>
          <a:prstGeom prst="rect">
            <a:avLst/>
          </a:prstGeom>
          <a:noFill/>
          <a:ln>
            <a:noFill/>
          </a:ln>
        </p:spPr>
      </p:pic>
      <p:pic>
        <p:nvPicPr>
          <p:cNvPr id="172" name="Google Shape;172;p26" title="8a76d40a-975a-4ef6-bcf1-a3a537498eda.png"/>
          <p:cNvPicPr preferRelativeResize="0"/>
          <p:nvPr/>
        </p:nvPicPr>
        <p:blipFill>
          <a:blip r:embed="rId2"/>
          <a:stretch>
            <a:fillRect/>
          </a:stretch>
        </p:blipFill>
        <p:spPr>
          <a:xfrm>
            <a:off x="311700" y="1083775"/>
            <a:ext cx="6314500" cy="355379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Predictability is strongly domain-specific </a:t>
            </a:r>
            <a:r>
              <a:rPr lang="en-GB" sz="1800"/>
              <a:t> </a:t>
            </a:r>
            <a:endParaRPr sz="1800"/>
          </a:p>
        </p:txBody>
      </p:sp>
      <p:sp>
        <p:nvSpPr>
          <p:cNvPr id="178" name="Google Shape;178;p27"/>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79" name="Google Shape;179;p27"/>
          <p:cNvPicPr preferRelativeResize="0"/>
          <p:nvPr/>
        </p:nvPicPr>
        <p:blipFill>
          <a:blip r:embed="rId1"/>
          <a:stretch>
            <a:fillRect/>
          </a:stretch>
        </p:blipFill>
        <p:spPr>
          <a:xfrm>
            <a:off x="311700" y="65600"/>
            <a:ext cx="5322026" cy="327575"/>
          </a:xfrm>
          <a:prstGeom prst="rect">
            <a:avLst/>
          </a:prstGeom>
          <a:noFill/>
          <a:ln>
            <a:noFill/>
          </a:ln>
        </p:spPr>
      </p:pic>
      <p:pic>
        <p:nvPicPr>
          <p:cNvPr id="180" name="Google Shape;180;p27" title="a9eac57f-c3da-4b5e-8e12-d937e228ef56.png"/>
          <p:cNvPicPr preferRelativeResize="0"/>
          <p:nvPr/>
        </p:nvPicPr>
        <p:blipFill>
          <a:blip r:embed="rId2"/>
          <a:stretch>
            <a:fillRect/>
          </a:stretch>
        </p:blipFill>
        <p:spPr>
          <a:xfrm>
            <a:off x="180075" y="1049750"/>
            <a:ext cx="8042224" cy="3879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Local predictability tracks </a:t>
            </a:r>
            <a:r>
              <a:rPr lang="en-GB" sz="1800"/>
              <a:t>phenotypic</a:t>
            </a:r>
            <a:r>
              <a:rPr lang="en-GB" sz="1800"/>
              <a:t> variance </a:t>
            </a:r>
            <a:endParaRPr sz="1800"/>
          </a:p>
        </p:txBody>
      </p:sp>
      <p:sp>
        <p:nvSpPr>
          <p:cNvPr id="186" name="Google Shape;186;p28"/>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87" name="Google Shape;187;p28"/>
          <p:cNvPicPr preferRelativeResize="0"/>
          <p:nvPr/>
        </p:nvPicPr>
        <p:blipFill>
          <a:blip r:embed="rId1"/>
          <a:stretch>
            <a:fillRect/>
          </a:stretch>
        </p:blipFill>
        <p:spPr>
          <a:xfrm>
            <a:off x="311700" y="65600"/>
            <a:ext cx="5322026" cy="327575"/>
          </a:xfrm>
          <a:prstGeom prst="rect">
            <a:avLst/>
          </a:prstGeom>
          <a:noFill/>
          <a:ln>
            <a:noFill/>
          </a:ln>
        </p:spPr>
      </p:pic>
      <p:pic>
        <p:nvPicPr>
          <p:cNvPr id="188" name="Google Shape;188;p28" title="e73c49fa-8556-467a-8615-85679b1f2ffa.png"/>
          <p:cNvPicPr preferRelativeResize="0"/>
          <p:nvPr/>
        </p:nvPicPr>
        <p:blipFill>
          <a:blip r:embed="rId2"/>
          <a:stretch>
            <a:fillRect/>
          </a:stretch>
        </p:blipFill>
        <p:spPr>
          <a:xfrm>
            <a:off x="311700" y="1152475"/>
            <a:ext cx="7188375" cy="3793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311700" y="4450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Case study: Beta-propeller has real variation but low predictability</a:t>
            </a:r>
            <a:endParaRPr sz="1800"/>
          </a:p>
        </p:txBody>
      </p:sp>
      <p:sp>
        <p:nvSpPr>
          <p:cNvPr id="194" name="Google Shape;194;p29"/>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195" name="Google Shape;195;p29"/>
          <p:cNvPicPr preferRelativeResize="0"/>
          <p:nvPr/>
        </p:nvPicPr>
        <p:blipFill>
          <a:blip r:embed="rId1"/>
          <a:stretch>
            <a:fillRect/>
          </a:stretch>
        </p:blipFill>
        <p:spPr>
          <a:xfrm>
            <a:off x="311700" y="65600"/>
            <a:ext cx="5322026" cy="327575"/>
          </a:xfrm>
          <a:prstGeom prst="rect">
            <a:avLst/>
          </a:prstGeom>
          <a:noFill/>
          <a:ln>
            <a:noFill/>
          </a:ln>
        </p:spPr>
      </p:pic>
      <p:pic>
        <p:nvPicPr>
          <p:cNvPr id="196" name="Google Shape;196;p29" title="6737f4d8-4931-4be2-9f94-7744334ac83e.png"/>
          <p:cNvPicPr preferRelativeResize="0"/>
          <p:nvPr/>
        </p:nvPicPr>
        <p:blipFill rotWithShape="1">
          <a:blip r:embed="rId2"/>
          <a:srcRect/>
          <a:stretch>
            <a:fillRect/>
          </a:stretch>
        </p:blipFill>
        <p:spPr>
          <a:xfrm>
            <a:off x="389800" y="1152475"/>
            <a:ext cx="7338885" cy="34163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00" name="Shape 200"/>
        <p:cNvGrpSpPr/>
        <p:nvPr/>
      </p:nvGrpSpPr>
      <p:grpSpPr>
        <a:xfrm>
          <a:off x="0" y="0"/>
          <a:ext cx="0" cy="0"/>
          <a:chOff x="0" y="0"/>
          <a:chExt cx="0" cy="0"/>
        </a:xfrm>
      </p:grpSpPr>
      <p:sp>
        <p:nvSpPr>
          <p:cNvPr id="201" name="Google Shape;201;p30"/>
          <p:cNvSpPr txBox="1"/>
          <p:nvPr>
            <p:ph type="title"/>
          </p:nvPr>
        </p:nvSpPr>
        <p:spPr>
          <a:xfrm>
            <a:off x="311700" y="285525"/>
            <a:ext cx="8520600" cy="484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GB" sz="1800"/>
              <a:t>Future direction</a:t>
            </a:r>
            <a:endParaRPr sz="1800"/>
          </a:p>
        </p:txBody>
      </p:sp>
      <p:sp>
        <p:nvSpPr>
          <p:cNvPr id="202" name="Google Shape;202;p30"/>
          <p:cNvSpPr txBox="1"/>
          <p:nvPr>
            <p:ph type="body" idx="1"/>
          </p:nvPr>
        </p:nvSpPr>
        <p:spPr>
          <a:xfrm>
            <a:off x="311700" y="929525"/>
            <a:ext cx="8520600" cy="3920400"/>
          </a:xfrm>
          <a:prstGeom prst="rect">
            <a:avLst/>
          </a:prstGeom>
        </p:spPr>
        <p:txBody>
          <a:bodyPr spcFirstLastPara="1" wrap="square" lIns="91425" tIns="91425" rIns="91425" bIns="91425" anchor="t" anchorCtr="0">
            <a:normAutofit/>
          </a:bodyPr>
          <a:lstStyle/>
          <a:p>
            <a:pPr marL="0" lvl="0" indent="0" algn="l" rtl="0">
              <a:spcBef>
                <a:spcPts val="1200"/>
              </a:spcBef>
              <a:spcAft>
                <a:spcPts val="0"/>
              </a:spcAft>
              <a:buNone/>
            </a:pP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1. Test the β-propeller mechanism in the model</a:t>
            </a: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Can varying k_off_endo, alone or with k_endo and k_recycle_ldlr, reproduce β-propeller phenotypes?</a:t>
            </a:r>
            <a:endParaRPr lang="en-US" altLang="zh-CN" sz="1100">
              <a:solidFill>
                <a:schemeClr val="dk1"/>
              </a:solidFill>
            </a:endParaRPr>
          </a:p>
          <a:p>
            <a:pPr marL="0" lvl="0" indent="0" algn="l" rtl="0">
              <a:spcBef>
                <a:spcPts val="1200"/>
              </a:spcBef>
              <a:spcAft>
                <a:spcPts val="0"/>
              </a:spcAft>
              <a:buNone/>
            </a:pP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2. Complete the structural features</a:t>
            </a: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Add MutateX ΔΔG, and propeller–LA4/5 distances from 1N7D (the contact involved in endosomal release).</a:t>
            </a:r>
            <a:endParaRPr lang="en-US" altLang="zh-CN" sz="1100">
              <a:solidFill>
                <a:schemeClr val="dk1"/>
              </a:solidFill>
            </a:endParaRPr>
          </a:p>
          <a:p>
            <a:pPr marL="0" lvl="0" indent="0" algn="l" rtl="0">
              <a:spcBef>
                <a:spcPts val="1200"/>
              </a:spcBef>
              <a:spcAft>
                <a:spcPts val="0"/>
              </a:spcAft>
              <a:buNone/>
            </a:pP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3. Guide the mechanistic modeling</a:t>
            </a:r>
            <a:endParaRPr lang="en-US" altLang="zh-CN" sz="1100">
              <a:solidFill>
                <a:schemeClr val="dk1"/>
              </a:solidFill>
            </a:endParaRPr>
          </a:p>
          <a:p>
            <a:pPr marL="0" lvl="0" indent="0" algn="l" rtl="0">
              <a:spcBef>
                <a:spcPts val="1200"/>
              </a:spcBef>
              <a:spcAft>
                <a:spcPts val="0"/>
              </a:spcAft>
              <a:buNone/>
            </a:pPr>
            <a:r>
              <a:rPr lang="en-US" altLang="zh-CN" sz="1100">
                <a:solidFill>
                  <a:schemeClr val="dk1"/>
                </a:solidFill>
              </a:rPr>
              <a:t>Prioritize LA3–5 (binding: k_off_surf), LA7/EGF-A (abundance: LDLR_init, k_recycle_ldlr) and the propeller (k_off_endo, possibly more than one mechanism).</a:t>
            </a:r>
            <a:endParaRPr lang="en-US" altLang="zh-CN"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13" name="Shape 213"/>
        <p:cNvGrpSpPr/>
        <p:nvPr/>
      </p:nvGrpSpPr>
      <p:grpSpPr>
        <a:xfrm>
          <a:off x="0" y="0"/>
          <a:ext cx="0" cy="0"/>
          <a:chOff x="0" y="0"/>
          <a:chExt cx="0" cy="0"/>
        </a:xfrm>
      </p:grpSpPr>
      <p:sp>
        <p:nvSpPr>
          <p:cNvPr id="214" name="Google Shape;214;p32"/>
          <p:cNvSpPr txBox="1"/>
          <p:nvPr>
            <p:ph type="title"/>
          </p:nvPr>
        </p:nvSpPr>
        <p:spPr>
          <a:xfrm>
            <a:off x="311700" y="215750"/>
            <a:ext cx="8520600" cy="503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 and MAE by domain</a:t>
            </a:r>
            <a:endParaRPr lang="en-GB"/>
          </a:p>
          <a:p>
            <a:pPr marL="0" lvl="0" indent="0" algn="l" rtl="0">
              <a:spcBef>
                <a:spcPts val="0"/>
              </a:spcBef>
              <a:spcAft>
                <a:spcPts val="0"/>
              </a:spcAft>
              <a:buClr>
                <a:schemeClr val="dk1"/>
              </a:buClr>
              <a:buSzPct val="39000"/>
              <a:buFont typeface="Arial" panose="020B0604020202020204"/>
              <a:buNone/>
            </a:pPr>
          </a:p>
          <a:p>
            <a:pPr marL="0" lvl="0" indent="0" algn="l" rtl="0">
              <a:spcBef>
                <a:spcPts val="0"/>
              </a:spcBef>
              <a:spcAft>
                <a:spcPts val="0"/>
              </a:spcAft>
              <a:buNone/>
            </a:pPr>
            <a:r>
              <a:rPr lang="en-GB"/>
              <a:t> </a:t>
            </a:r>
            <a:endParaRPr lang="en-GB"/>
          </a:p>
        </p:txBody>
      </p:sp>
      <p:sp>
        <p:nvSpPr>
          <p:cNvPr id="215" name="Google Shape;215;p32"/>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216" name="Google Shape;216;p32"/>
          <p:cNvPicPr preferRelativeResize="0"/>
          <p:nvPr/>
        </p:nvPicPr>
        <p:blipFill>
          <a:blip r:embed="rId1"/>
          <a:stretch>
            <a:fillRect/>
          </a:stretch>
        </p:blipFill>
        <p:spPr>
          <a:xfrm>
            <a:off x="311700" y="835250"/>
            <a:ext cx="8055099" cy="3831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06" name="Shape 206"/>
        <p:cNvGrpSpPr/>
        <p:nvPr/>
      </p:nvGrpSpPr>
      <p:grpSpPr>
        <a:xfrm>
          <a:off x="0" y="0"/>
          <a:ext cx="0" cy="0"/>
          <a:chOff x="0" y="0"/>
          <a:chExt cx="0" cy="0"/>
        </a:xfrm>
      </p:grpSpPr>
      <p:sp>
        <p:nvSpPr>
          <p:cNvPr id="207" name="Google Shape;207;p31"/>
          <p:cNvSpPr txBox="1"/>
          <p:nvPr>
            <p:ph type="title"/>
          </p:nvPr>
        </p:nvSpPr>
        <p:spPr>
          <a:xfrm>
            <a:off x="311700" y="2070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Acknowledgements</a:t>
            </a:r>
            <a:endParaRPr lang="en-GB"/>
          </a:p>
        </p:txBody>
      </p:sp>
      <p:sp>
        <p:nvSpPr>
          <p:cNvPr id="208" name="Google Shape;208;p31"/>
          <p:cNvSpPr txBox="1"/>
          <p:nvPr>
            <p:ph type="body" idx="1"/>
          </p:nvPr>
        </p:nvSpPr>
        <p:spPr>
          <a:xfrm>
            <a:off x="439450" y="916200"/>
            <a:ext cx="3150000" cy="3934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200" b="1"/>
              <a:t>Faeder lab</a:t>
            </a:r>
            <a:endParaRPr sz="1200" b="1"/>
          </a:p>
          <a:p>
            <a:pPr marL="0" lvl="0" indent="0" algn="l" rtl="0">
              <a:spcBef>
                <a:spcPts val="1200"/>
              </a:spcBef>
              <a:spcAft>
                <a:spcPts val="0"/>
              </a:spcAft>
              <a:buNone/>
            </a:pPr>
            <a:r>
              <a:rPr lang="en-GB" sz="1200"/>
              <a:t>Jim Faeder</a:t>
            </a:r>
            <a:endParaRPr sz="1200"/>
          </a:p>
          <a:p>
            <a:pPr marL="0" lvl="0" indent="0" algn="l" rtl="0">
              <a:spcBef>
                <a:spcPts val="1200"/>
              </a:spcBef>
              <a:spcAft>
                <a:spcPts val="0"/>
              </a:spcAft>
              <a:buClr>
                <a:schemeClr val="dk1"/>
              </a:buClr>
              <a:buSzPts val="1100"/>
              <a:buFont typeface="Arial" panose="020B0604020202020204"/>
              <a:buNone/>
            </a:pPr>
            <a:r>
              <a:rPr lang="en-GB" sz="1200"/>
              <a:t>Achyudhan Kutuva</a:t>
            </a:r>
            <a:endParaRPr sz="1200"/>
          </a:p>
          <a:p>
            <a:pPr marL="0" lvl="0" indent="0" algn="l" rtl="0">
              <a:spcBef>
                <a:spcPts val="1200"/>
              </a:spcBef>
              <a:spcAft>
                <a:spcPts val="0"/>
              </a:spcAft>
              <a:buClr>
                <a:schemeClr val="dk1"/>
              </a:buClr>
              <a:buSzPts val="1100"/>
              <a:buFont typeface="Arial" panose="020B0604020202020204"/>
              <a:buNone/>
            </a:pPr>
            <a:r>
              <a:rPr lang="en-GB" sz="1200"/>
              <a:t>Alexander DiBiasi</a:t>
            </a:r>
            <a:endParaRPr sz="1200"/>
          </a:p>
          <a:p>
            <a:pPr marL="0" lvl="0" indent="0" algn="l" rtl="0">
              <a:spcBef>
                <a:spcPts val="1200"/>
              </a:spcBef>
              <a:spcAft>
                <a:spcPts val="0"/>
              </a:spcAft>
              <a:buClr>
                <a:schemeClr val="dk1"/>
              </a:buClr>
              <a:buSzPts val="1100"/>
              <a:buFont typeface="Arial" panose="020B0604020202020204"/>
              <a:buNone/>
            </a:pPr>
            <a:r>
              <a:rPr lang="en-GB" sz="1200"/>
              <a:t>Anamarie Martinez-Turak</a:t>
            </a:r>
            <a:endParaRPr sz="1200"/>
          </a:p>
          <a:p>
            <a:pPr marL="0" lvl="0" indent="0" algn="l" rtl="0">
              <a:spcBef>
                <a:spcPts val="1200"/>
              </a:spcBef>
              <a:spcAft>
                <a:spcPts val="0"/>
              </a:spcAft>
              <a:buClr>
                <a:schemeClr val="dk1"/>
              </a:buClr>
              <a:buSzPts val="1100"/>
              <a:buFont typeface="Arial" panose="020B0604020202020204"/>
              <a:buNone/>
            </a:pPr>
            <a:r>
              <a:rPr lang="en-GB" sz="1200"/>
              <a:t>Paul Sharoubeem</a:t>
            </a:r>
            <a:endParaRPr sz="1200"/>
          </a:p>
          <a:p>
            <a:pPr marL="0" lvl="0" indent="0" algn="l" rtl="0">
              <a:spcBef>
                <a:spcPts val="1200"/>
              </a:spcBef>
              <a:spcAft>
                <a:spcPts val="0"/>
              </a:spcAft>
              <a:buNone/>
            </a:pPr>
            <a:r>
              <a:rPr lang="en-GB" sz="1200"/>
              <a:t>Emma Franken</a:t>
            </a:r>
            <a:endParaRPr sz="1200"/>
          </a:p>
          <a:p>
            <a:pPr marL="0" lvl="0" indent="0" algn="l" rtl="0">
              <a:spcBef>
                <a:spcPts val="1200"/>
              </a:spcBef>
              <a:spcAft>
                <a:spcPts val="0"/>
              </a:spcAft>
              <a:buNone/>
            </a:pPr>
            <a:r>
              <a:rPr lang="en-GB" sz="1200"/>
              <a:t>Nikita Rajesh</a:t>
            </a:r>
            <a:endParaRPr sz="1200"/>
          </a:p>
          <a:p>
            <a:pPr marL="0" lvl="0" indent="0" algn="l" rtl="0">
              <a:spcBef>
                <a:spcPts val="1200"/>
              </a:spcBef>
              <a:spcAft>
                <a:spcPts val="0"/>
              </a:spcAft>
              <a:buNone/>
            </a:pPr>
            <a:r>
              <a:rPr lang="en-GB" sz="1200"/>
              <a:t>Robin Danko</a:t>
            </a:r>
            <a:endParaRPr sz="1200"/>
          </a:p>
          <a:p>
            <a:pPr marL="0" lvl="0" indent="0" algn="l" rtl="0">
              <a:spcBef>
                <a:spcPts val="1200"/>
              </a:spcBef>
              <a:spcAft>
                <a:spcPts val="1200"/>
              </a:spcAft>
              <a:buNone/>
            </a:pPr>
            <a:r>
              <a:rPr lang="en-GB" sz="1200"/>
              <a:t>Samiran Chakraborti</a:t>
            </a:r>
            <a:endParaRPr sz="1200"/>
          </a:p>
        </p:txBody>
      </p:sp>
      <p:sp>
        <p:nvSpPr>
          <p:cNvPr id="209" name="Google Shape;209;p31"/>
          <p:cNvSpPr txBox="1"/>
          <p:nvPr/>
        </p:nvSpPr>
        <p:spPr>
          <a:xfrm>
            <a:off x="4370825" y="916200"/>
            <a:ext cx="3285900" cy="357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b="1">
                <a:solidFill>
                  <a:schemeClr val="dk2"/>
                </a:solidFill>
              </a:rPr>
              <a:t>Roth Lab</a:t>
            </a:r>
            <a:br>
              <a:rPr lang="en-GB" sz="1200" b="1">
                <a:solidFill>
                  <a:schemeClr val="dk2"/>
                </a:solidFill>
              </a:rPr>
            </a:br>
            <a:br>
              <a:rPr lang="en-GB" sz="1200" b="1">
                <a:solidFill>
                  <a:schemeClr val="dk2"/>
                </a:solidFill>
              </a:rPr>
            </a:br>
            <a:r>
              <a:rPr lang="en-GB" sz="1200">
                <a:solidFill>
                  <a:schemeClr val="dk2"/>
                </a:solidFill>
              </a:rPr>
              <a:t>Fritz Roth</a:t>
            </a:r>
            <a:endParaRPr sz="1200">
              <a:solidFill>
                <a:schemeClr val="dk2"/>
              </a:solidFill>
            </a:endParaRPr>
          </a:p>
          <a:p>
            <a:pPr marL="0" lvl="0" indent="0" algn="l" rtl="0">
              <a:spcBef>
                <a:spcPts val="0"/>
              </a:spcBef>
              <a:spcAft>
                <a:spcPts val="0"/>
              </a:spcAft>
              <a:buNone/>
            </a:pPr>
            <a:endParaRPr sz="1200">
              <a:solidFill>
                <a:schemeClr val="dk2"/>
              </a:solidFill>
            </a:endParaRPr>
          </a:p>
          <a:p>
            <a:pPr marL="0" lvl="0" indent="0" algn="l" rtl="0">
              <a:spcBef>
                <a:spcPts val="0"/>
              </a:spcBef>
              <a:spcAft>
                <a:spcPts val="0"/>
              </a:spcAft>
              <a:buNone/>
            </a:pPr>
            <a:r>
              <a:rPr lang="en-GB" sz="1200">
                <a:solidFill>
                  <a:schemeClr val="dk2"/>
                </a:solidFill>
              </a:rPr>
              <a:t>Cindy Zhang</a:t>
            </a:r>
            <a:endParaRPr sz="12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20" name="Shape 220"/>
        <p:cNvGrpSpPr/>
        <p:nvPr/>
      </p:nvGrpSpPr>
      <p:grpSpPr>
        <a:xfrm>
          <a:off x="0" y="0"/>
          <a:ext cx="0" cy="0"/>
          <a:chOff x="0" y="0"/>
          <a:chExt cx="0" cy="0"/>
        </a:xfrm>
      </p:grpSpPr>
      <p:sp>
        <p:nvSpPr>
          <p:cNvPr id="221" name="Google Shape;221;p33"/>
          <p:cNvSpPr txBox="1"/>
          <p:nvPr>
            <p:ph type="title"/>
          </p:nvPr>
        </p:nvSpPr>
        <p:spPr>
          <a:xfrm>
            <a:off x="311700" y="305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β-propeller position-window scan</a:t>
            </a:r>
            <a:endParaRPr lang="en-GB"/>
          </a:p>
          <a:p>
            <a:pPr marL="0" lvl="0" indent="0" algn="l" rtl="0">
              <a:spcBef>
                <a:spcPts val="0"/>
              </a:spcBef>
              <a:spcAft>
                <a:spcPts val="0"/>
              </a:spcAft>
              <a:buClr>
                <a:schemeClr val="dk1"/>
              </a:buClr>
              <a:buSzPct val="39000"/>
              <a:buFont typeface="Arial" panose="020B0604020202020204"/>
              <a:buNone/>
            </a:pPr>
          </a:p>
          <a:p>
            <a:pPr marL="0" lvl="0" indent="0" algn="l" rtl="0">
              <a:spcBef>
                <a:spcPts val="0"/>
              </a:spcBef>
              <a:spcAft>
                <a:spcPts val="0"/>
              </a:spcAft>
              <a:buNone/>
            </a:pPr>
          </a:p>
        </p:txBody>
      </p:sp>
      <p:sp>
        <p:nvSpPr>
          <p:cNvPr id="222" name="Google Shape;222;p33"/>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223" name="Google Shape;223;p33"/>
          <p:cNvPicPr preferRelativeResize="0"/>
          <p:nvPr/>
        </p:nvPicPr>
        <p:blipFill>
          <a:blip r:embed="rId1"/>
          <a:stretch>
            <a:fillRect/>
          </a:stretch>
        </p:blipFill>
        <p:spPr>
          <a:xfrm>
            <a:off x="259150" y="878175"/>
            <a:ext cx="8453824" cy="3671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34"/>
          <p:cNvSpPr txBox="1"/>
          <p:nvPr>
            <p:ph type="title"/>
          </p:nvPr>
        </p:nvSpPr>
        <p:spPr>
          <a:xfrm>
            <a:off x="351575" y="2456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000"/>
              <a:buFont typeface="Arial" panose="020B0604020202020204"/>
              <a:buNone/>
            </a:pPr>
            <a:r>
              <a:rPr lang="en-GB"/>
              <a:t>LA repeats </a:t>
            </a:r>
            <a:r>
              <a:rPr lang="en-GB"/>
              <a:t>position-window scan</a:t>
            </a:r>
            <a:endParaRPr lang="en-GB"/>
          </a:p>
          <a:p>
            <a:pPr marL="0" lvl="0" indent="0" algn="l" rtl="0">
              <a:spcBef>
                <a:spcPts val="0"/>
              </a:spcBef>
              <a:spcAft>
                <a:spcPts val="0"/>
              </a:spcAft>
              <a:buClr>
                <a:schemeClr val="dk1"/>
              </a:buClr>
              <a:buSzPct val="39000"/>
              <a:buFont typeface="Arial" panose="020B0604020202020204"/>
              <a:buNone/>
            </a:pPr>
          </a:p>
          <a:p>
            <a:pPr marL="0" lvl="0" indent="0" algn="l" rtl="0">
              <a:spcBef>
                <a:spcPts val="0"/>
              </a:spcBef>
              <a:spcAft>
                <a:spcPts val="0"/>
              </a:spcAft>
              <a:buNone/>
            </a:pPr>
          </a:p>
        </p:txBody>
      </p:sp>
      <p:sp>
        <p:nvSpPr>
          <p:cNvPr id="229" name="Google Shape;229;p34"/>
          <p:cNvSpPr txBox="1"/>
          <p:nvPr>
            <p:ph type="body" idx="1"/>
          </p:nvPr>
        </p:nvSpPr>
        <p:spPr>
          <a:xfrm>
            <a:off x="311700" y="9830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p>
        </p:txBody>
      </p:sp>
      <p:pic>
        <p:nvPicPr>
          <p:cNvPr id="230" name="Google Shape;230;p34"/>
          <p:cNvPicPr preferRelativeResize="0"/>
          <p:nvPr/>
        </p:nvPicPr>
        <p:blipFill>
          <a:blip r:embed="rId1"/>
          <a:stretch>
            <a:fillRect/>
          </a:stretch>
        </p:blipFill>
        <p:spPr>
          <a:xfrm>
            <a:off x="239225" y="818349"/>
            <a:ext cx="7793810" cy="384325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1910</Words>
  <Application>WPS 演示</Application>
  <PresentationFormat/>
  <Paragraphs>121</Paragraphs>
  <Slides>22</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Arial</vt:lpstr>
      <vt:lpstr>SimSun</vt:lpstr>
      <vt:lpstr>Wingdings</vt:lpstr>
      <vt:lpstr>Arial</vt:lpstr>
      <vt:lpstr>Microsoft YaHei</vt:lpstr>
      <vt:lpstr>Arial Unicode MS</vt:lpstr>
      <vt:lpstr>Simple Light</vt:lpstr>
      <vt:lpstr>Rule-based modeling of LDLR variant effects</vt:lpstr>
      <vt:lpstr>LDL uptake review</vt:lpstr>
      <vt:lpstr>Four phenotype classes from A/F space</vt:lpstr>
      <vt:lpstr>Latin Hypercube Sampling explores the reachable A–F space </vt:lpstr>
      <vt:lpstr>Can the model reproduce mutant phenotypes? </vt:lpstr>
      <vt:lpstr>Sensitivity analysis identifies influential parameters </vt:lpstr>
      <vt:lpstr>Inverse fitting and model reachability   </vt:lpstr>
      <vt:lpstr>Ground the model in variant data </vt:lpstr>
      <vt:lpstr>Mutation type shows trends but does not uniquely determine phenotype </vt:lpstr>
      <vt:lpstr>LDLR phenotype depends strongly on protein region </vt:lpstr>
      <vt:lpstr>Predict phenotype components before mechanism </vt:lpstr>
      <vt:lpstr>The 26-feature vector </vt:lpstr>
      <vt:lpstr>Domain + mutation pattern suggests distinct mechanisms </vt:lpstr>
      <vt:lpstr>Can the 26 features predict B and S? </vt:lpstr>
      <vt:lpstr>Predictability is strongly domain-specific  </vt:lpstr>
      <vt:lpstr>Local predictability tracks phenotypic variance </vt:lpstr>
      <vt:lpstr>Case study: Beta-propeller has real variation but low predictability</vt:lpstr>
      <vt:lpstr>Limitation/Future direction</vt:lpstr>
      <vt:lpstr> </vt:lpstr>
      <vt:lpstr>Acknowledgements</vt:lpstr>
      <vt:lpstr>β-propeller position-window scan</vt:lpstr>
      <vt:lpstr>LA repeats position-window scan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Mechanistic Model toVariant-Level InferenceRule-based modeling of LDLR variant effects</dc:title>
  <dc:creator/>
  <cp:lastModifiedBy>天翼</cp:lastModifiedBy>
  <cp:revision>3</cp:revision>
  <dcterms:created xsi:type="dcterms:W3CDTF">2026-10-06T12:59:00Z</dcterms:created>
  <dcterms:modified xsi:type="dcterms:W3CDTF">2026-10-06T13:10:53Z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8EF28288D64E4F1692D044C5C3F521E2_12</vt:lpwstr>
  </property>
</Properties>
</file>